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591" r:id="rId3"/>
    <p:sldId id="592" r:id="rId4"/>
    <p:sldId id="593" r:id="rId5"/>
    <p:sldId id="493" r:id="rId6"/>
    <p:sldId id="594" r:id="rId7"/>
    <p:sldId id="595" r:id="rId8"/>
    <p:sldId id="596" r:id="rId9"/>
    <p:sldId id="597" r:id="rId10"/>
    <p:sldId id="598" r:id="rId11"/>
    <p:sldId id="599" r:id="rId12"/>
    <p:sldId id="600" r:id="rId13"/>
    <p:sldId id="601" r:id="rId14"/>
    <p:sldId id="602" r:id="rId15"/>
    <p:sldId id="603" r:id="rId16"/>
    <p:sldId id="604" r:id="rId17"/>
    <p:sldId id="605" r:id="rId18"/>
    <p:sldId id="606" r:id="rId19"/>
    <p:sldId id="607" r:id="rId20"/>
    <p:sldId id="6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875399"/>
            <a:ext cx="5992368" cy="2387600"/>
          </a:xfrm>
        </p:spPr>
        <p:txBody>
          <a:bodyPr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400" b="0" i="0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effectLst/>
                <a:latin typeface="Segoe UI" panose="020B0502040204020203" pitchFamily="34" charset="0"/>
              </a:rPr>
              <a:t>Course Title, module title and topic of video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599" y="4355074"/>
            <a:ext cx="6436659" cy="1525773"/>
          </a:xfrm>
        </p:spPr>
        <p:txBody>
          <a:bodyPr/>
          <a:lstStyle>
            <a:lvl1pPr marL="0" indent="0" algn="l">
              <a:buNone/>
              <a:defRPr lang="en-US" b="0" i="0" smtClean="0">
                <a:solidFill>
                  <a:srgbClr val="00A994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b="0" i="0">
                <a:effectLst/>
                <a:latin typeface="Segoe UI" panose="020B0502040204020203" pitchFamily="34" charset="0"/>
              </a:rPr>
              <a:t>Faculty Name</a:t>
            </a:r>
          </a:p>
          <a:p>
            <a:r>
              <a:rPr lang="en-US" b="0" i="0">
                <a:effectLst/>
                <a:latin typeface="Segoe UI" panose="020B0502040204020203" pitchFamily="34" charset="0"/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518164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4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9830054" cy="283483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9830054" cy="14907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5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89704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489704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8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4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4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1212" y="72224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1432" y="722249"/>
            <a:ext cx="5681472" cy="54499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1212" y="232244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4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957" y="713105"/>
            <a:ext cx="37047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1432" y="713105"/>
            <a:ext cx="5910072" cy="54590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957" y="2313305"/>
            <a:ext cx="370478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4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3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69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6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7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1432" y="1825625"/>
            <a:ext cx="98237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305C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305C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05C"/>
                </a:solidFill>
                <a:latin typeface="Montserrat" panose="00000500000000000000" pitchFamily="2" charset="0"/>
              </a:defRPr>
            </a:lvl1pPr>
          </a:lstStyle>
          <a:p>
            <a:fld id="{4AD51EEE-AB63-4DA6-9F1F-5936DDA55F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0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305C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02D9A-D9B6-42D1-86F5-E1F17C25E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3637279"/>
            <a:ext cx="10383520" cy="1103239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24ADI003-MACHINE LEARNING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023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96AE-C8BA-1458-C447-6A40B9C8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Course Objectives: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BF7F-D4E9-AE27-2038-E9A823805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purpose of taking this course is to: 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Introduce the fundamental concepts of machine learning, its life cycle and ethical considerations. 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Explore various supervised and unsupervised learning techniques and optimization strategies. 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Examine recommendation systems, and its evaluation techniques.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6B298-0AEF-2645-DDBF-6870FD5A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</p:spTree>
    <p:extLst>
      <p:ext uri="{BB962C8B-B14F-4D97-AF65-F5344CB8AC3E}">
        <p14:creationId xmlns:p14="http://schemas.microsoft.com/office/powerpoint/2010/main" val="417752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E6BF-804B-C157-0BA3-C6B20D99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Course Outcomes </a:t>
            </a:r>
            <a:r>
              <a:rPr lang="en-IN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025E-B131-7292-F93E-188F11CB5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12" y="1378585"/>
            <a:ext cx="9823704" cy="4351338"/>
          </a:xfrm>
        </p:spPr>
        <p:txBody>
          <a:bodyPr>
            <a:noAutofit/>
          </a:bodyPr>
          <a:lstStyle/>
          <a:p>
            <a:r>
              <a:rPr lang="en-US" sz="2000" dirty="0"/>
              <a:t>After successful completion of this course, the students shall be able to 		</a:t>
            </a:r>
          </a:p>
          <a:p>
            <a:r>
              <a:rPr lang="en-US" sz="2000" b="1" dirty="0"/>
              <a:t>CO1 </a:t>
            </a:r>
            <a:r>
              <a:rPr lang="en-US" sz="2000" dirty="0"/>
              <a:t>	Apply appropriate </a:t>
            </a:r>
            <a:r>
              <a:rPr lang="en-US" sz="2000" b="1" dirty="0"/>
              <a:t>data pre-processing techniques </a:t>
            </a:r>
            <a:r>
              <a:rPr lang="en-US" sz="2000" dirty="0"/>
              <a:t>to build machine learning models with ethical considerations. 	(Ap)	</a:t>
            </a:r>
          </a:p>
          <a:p>
            <a:r>
              <a:rPr lang="en-US" sz="2000" b="1" dirty="0"/>
              <a:t>CO2</a:t>
            </a:r>
            <a:r>
              <a:rPr lang="en-US" sz="2000" dirty="0"/>
              <a:t> 	Analyze and optimize </a:t>
            </a:r>
            <a:r>
              <a:rPr lang="en-US" sz="2000" b="1" dirty="0"/>
              <a:t>regression models using estimation techniques, regularization, and gradient-based methods </a:t>
            </a:r>
            <a:r>
              <a:rPr lang="en-US" sz="2000" dirty="0"/>
              <a:t>through error analysis. 	(An) 	</a:t>
            </a:r>
          </a:p>
          <a:p>
            <a:r>
              <a:rPr lang="en-US" sz="2000" b="1" dirty="0"/>
              <a:t>CO3</a:t>
            </a:r>
            <a:r>
              <a:rPr lang="en-US" sz="2000" dirty="0"/>
              <a:t> 	Build and evaluate the effectiveness of </a:t>
            </a:r>
            <a:r>
              <a:rPr lang="en-US" sz="2000" b="1" dirty="0"/>
              <a:t>different classification models and ensemble techniques. </a:t>
            </a:r>
            <a:r>
              <a:rPr lang="en-US" sz="2000" dirty="0"/>
              <a:t>	(E) 	</a:t>
            </a:r>
          </a:p>
          <a:p>
            <a:r>
              <a:rPr lang="en-US" sz="2000" b="1" dirty="0"/>
              <a:t>CO4</a:t>
            </a:r>
            <a:r>
              <a:rPr lang="en-US" sz="2000" dirty="0"/>
              <a:t> 	Analyze complex datasets using advanced </a:t>
            </a:r>
            <a:r>
              <a:rPr lang="en-US" sz="2000" b="1" dirty="0"/>
              <a:t>clustering, associative rule mining and dimensionality reduction algorithms </a:t>
            </a:r>
            <a:r>
              <a:rPr lang="en-US" sz="2000" dirty="0"/>
              <a:t>to uncover meaningful patterns and groupings. 	(An)	</a:t>
            </a:r>
          </a:p>
          <a:p>
            <a:r>
              <a:rPr lang="en-US" sz="2000" b="1" dirty="0"/>
              <a:t>CO5</a:t>
            </a:r>
            <a:r>
              <a:rPr lang="en-US" sz="2000" dirty="0"/>
              <a:t> 	Develop </a:t>
            </a:r>
            <a:r>
              <a:rPr lang="en-US" sz="2000" b="1" dirty="0"/>
              <a:t>recommendation systems </a:t>
            </a:r>
            <a:r>
              <a:rPr lang="en-US" sz="2000" dirty="0"/>
              <a:t>to personalize user needs. (Ap) 	</a:t>
            </a:r>
          </a:p>
          <a:p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CF7A0-837A-D194-7D14-3BDF080C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</p:spTree>
    <p:extLst>
      <p:ext uri="{BB962C8B-B14F-4D97-AF65-F5344CB8AC3E}">
        <p14:creationId xmlns:p14="http://schemas.microsoft.com/office/powerpoint/2010/main" val="360500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C75A-F10A-2F1B-0C54-1D7CF63C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2" y="0"/>
            <a:ext cx="8753856" cy="1325563"/>
          </a:xfrm>
        </p:spPr>
        <p:txBody>
          <a:bodyPr/>
          <a:lstStyle/>
          <a:p>
            <a:r>
              <a:rPr lang="en-IN" b="1" dirty="0"/>
              <a:t>Course Content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B3E0-F0FF-5AB8-312D-E54526EF4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712" y="1073785"/>
            <a:ext cx="10447528" cy="4351338"/>
          </a:xfrm>
        </p:spPr>
        <p:txBody>
          <a:bodyPr>
            <a:noAutofit/>
          </a:bodyPr>
          <a:lstStyle/>
          <a:p>
            <a:pPr algn="just"/>
            <a:r>
              <a:rPr lang="en-IN" sz="1400" b="1" dirty="0"/>
              <a:t>INTRODUCTION </a:t>
            </a:r>
            <a:endParaRPr lang="en-IN" sz="1400" dirty="0"/>
          </a:p>
          <a:p>
            <a:pPr marL="0" indent="0" algn="just">
              <a:buNone/>
            </a:pPr>
            <a:r>
              <a:rPr lang="en-US" sz="1400" dirty="0"/>
              <a:t>Introduction to Machine Learning-Types of machine learning: Supervised, Unsupervised, Semi supervised and Reinforcement Learning-Applications of machine learning in various fields- Ethics in machine learning- Fairness, accountability and interpretability -Machine learning workflow- Data Preprocessing-Feature engineering- Correlation analysis- Model training and evaluation- Model monitoring and maintenance. </a:t>
            </a:r>
          </a:p>
          <a:p>
            <a:pPr algn="just"/>
            <a:r>
              <a:rPr lang="en-IN" sz="1400" b="1" dirty="0"/>
              <a:t>REGRESSION MODELS </a:t>
            </a:r>
            <a:endParaRPr lang="en-IN" sz="1400" dirty="0"/>
          </a:p>
          <a:p>
            <a:pPr marL="0" indent="0" algn="just">
              <a:buNone/>
            </a:pPr>
            <a:r>
              <a:rPr lang="en-IN" sz="1400" dirty="0"/>
              <a:t>Linear regression- Simple Regression-Least Square Estimator-Maximum Likelihood Estimator– Multiple Regression –Polynomial Regression-Performance Metrices-Bias 	</a:t>
            </a:r>
          </a:p>
          <a:p>
            <a:pPr algn="just"/>
            <a:r>
              <a:rPr lang="en-IN" sz="1400" b="1" dirty="0"/>
              <a:t>CLASSIFICATION MODELS </a:t>
            </a:r>
            <a:endParaRPr lang="en-IN" sz="1400" dirty="0"/>
          </a:p>
          <a:p>
            <a:pPr marL="0" indent="0" algn="just">
              <a:buNone/>
            </a:pPr>
            <a:r>
              <a:rPr lang="en-IN" sz="1400" dirty="0"/>
              <a:t>Logistic Regression-Naive Bayes Classifiers-Decision Tree-K-Nearest </a:t>
            </a:r>
            <a:r>
              <a:rPr lang="en-IN" sz="1400" dirty="0" err="1"/>
              <a:t>Neighbors</a:t>
            </a:r>
            <a:r>
              <a:rPr lang="en-IN" sz="1400" dirty="0"/>
              <a:t>-Support Vector Machine – Evaluation metrices – AUC ROC- Class Imbalance –SMOTE – Cross-Validation Techniques-Ensemble Learning-Bagging- Random Forests-Boosting - AdaBoost -Gradient Boosting 	</a:t>
            </a:r>
          </a:p>
          <a:p>
            <a:pPr algn="just"/>
            <a:r>
              <a:rPr lang="en-IN" sz="1400" b="1" dirty="0"/>
              <a:t>UNSUPERVISED LEARNING </a:t>
            </a:r>
            <a:endParaRPr lang="en-IN" sz="1400" dirty="0"/>
          </a:p>
          <a:p>
            <a:pPr marL="0" indent="0" algn="just">
              <a:buNone/>
            </a:pPr>
            <a:r>
              <a:rPr lang="en-IN" sz="1400" dirty="0"/>
              <a:t>Clustering- K-means Clustering- Gaussian Mixture Models -Hierarchical Clustering- Density-Based Clustering (DBSCAN)- Mean-Shift Clustering- Spectral Clustering- Association Rule Learning- </a:t>
            </a:r>
            <a:r>
              <a:rPr lang="en-IN" sz="1400" dirty="0" err="1"/>
              <a:t>Apriori</a:t>
            </a:r>
            <a:r>
              <a:rPr lang="en-IN" sz="1400" dirty="0"/>
              <a:t> Algorithm- FP-Growth Algorithm- Dimensionality Reduction- Principal Component Analysis (PCA)- Linear Discriminant Analysis (LDA) 	</a:t>
            </a:r>
          </a:p>
          <a:p>
            <a:pPr algn="just"/>
            <a:r>
              <a:rPr lang="en-IN" sz="1400" b="1" dirty="0"/>
              <a:t>RECOMMENDATION SYTEMS </a:t>
            </a:r>
            <a:endParaRPr lang="en-IN" sz="1400" dirty="0"/>
          </a:p>
          <a:p>
            <a:pPr marL="0" indent="0" algn="just">
              <a:buNone/>
            </a:pPr>
            <a:r>
              <a:rPr lang="en-IN" sz="1400" dirty="0"/>
              <a:t>Introduction to Recommendation Systems-Types- Challenges- Collaborative Filtering Techniques- User-Based-Collaborative Filtering- Item-Based- Collaborative Filtering- Matrix Factorization Techniques- Content-Based Recommendation- Hybrid Recommendation Systems- Evaluation of Recommendation Systems 	</a:t>
            </a:r>
            <a:r>
              <a:rPr lang="en-US" sz="1400" dirty="0"/>
              <a:t>	</a:t>
            </a:r>
          </a:p>
          <a:p>
            <a:pPr algn="just"/>
            <a:endParaRPr lang="en-IN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94433B-533A-047A-31F3-A6C4984E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</p:spTree>
    <p:extLst>
      <p:ext uri="{BB962C8B-B14F-4D97-AF65-F5344CB8AC3E}">
        <p14:creationId xmlns:p14="http://schemas.microsoft.com/office/powerpoint/2010/main" val="51000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D560-979D-6C74-232F-10BC9280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98DF-1DC5-67F9-8832-2AE512B1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327" y="365126"/>
            <a:ext cx="9744365" cy="937202"/>
          </a:xfrm>
        </p:spPr>
        <p:txBody>
          <a:bodyPr>
            <a:normAutofit/>
          </a:bodyPr>
          <a:lstStyle/>
          <a:p>
            <a:r>
              <a:rPr lang="en-US" sz="2800" b="1" dirty="0"/>
              <a:t>Unit III – </a:t>
            </a:r>
            <a:r>
              <a:rPr lang="en-IN" sz="2800" b="1" dirty="0"/>
              <a:t>CLASSIFICATION MODELS </a:t>
            </a:r>
            <a:r>
              <a:rPr lang="en-US" sz="2800" b="1" dirty="0"/>
              <a:t> 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C46F45-4863-1472-CA46-5B6CD772A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40" y="1127760"/>
            <a:ext cx="10021824" cy="50492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Logistic Regression-Naive Bayes Classifiers-Decision Tree-K-Nearest </a:t>
            </a:r>
            <a:r>
              <a:rPr lang="en-IN" dirty="0" err="1"/>
              <a:t>Neighbors</a:t>
            </a:r>
            <a:r>
              <a:rPr lang="en-IN" dirty="0"/>
              <a:t>-Support Vector Machine – Evaluation metrices – AUC ROC- Class Imbalance –SMOTE – Cross-Validation Techniques-Ensemble Learning-Bagging- Random Forests-Boosting - AdaBoost -Gradient Boosting</a:t>
            </a:r>
            <a:endParaRPr lang="en-IN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F20C2D0-966C-B6A5-123E-8B40E2F6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7832" y="6356350"/>
            <a:ext cx="6143244" cy="22999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05C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36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B261-7E98-54E8-AB0E-8C980AAC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69579-C4A8-6B1C-B18C-100DCDF8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19BABD-52DF-82FF-008C-D9A1A0B25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In many real-world problems, we must </a:t>
                </a:r>
                <a:r>
                  <a:rPr lang="en-US" sz="1600" b="1" dirty="0"/>
                  <a:t>classify objects</a:t>
                </a:r>
                <a:r>
                  <a:rPr lang="en-US" sz="1600" dirty="0"/>
                  <a:t>:</a:t>
                </a:r>
              </a:p>
              <a:p>
                <a:r>
                  <a:rPr lang="en-US" sz="1600" dirty="0"/>
                  <a:t>Is an email </a:t>
                </a:r>
                <a:r>
                  <a:rPr lang="en-US" sz="1600" b="1" dirty="0"/>
                  <a:t>Spam or Not Spam</a:t>
                </a:r>
                <a:r>
                  <a:rPr lang="en-US" sz="1600" dirty="0"/>
                  <a:t>?</a:t>
                </a:r>
              </a:p>
              <a:p>
                <a:r>
                  <a:rPr lang="en-US" sz="1600" dirty="0"/>
                  <a:t>Will a student </a:t>
                </a:r>
                <a:r>
                  <a:rPr lang="en-US" sz="1600" b="1" dirty="0"/>
                  <a:t>Pass or Fail</a:t>
                </a:r>
                <a:r>
                  <a:rPr lang="en-US" sz="1600" dirty="0"/>
                  <a:t>?</a:t>
                </a:r>
              </a:p>
              <a:p>
                <a:r>
                  <a:rPr lang="en-US" sz="1600" dirty="0"/>
                  <a:t>Is a transaction </a:t>
                </a:r>
                <a:r>
                  <a:rPr lang="en-US" sz="1600" b="1" dirty="0"/>
                  <a:t>Fraud or Genuine</a:t>
                </a:r>
                <a:r>
                  <a:rPr lang="en-US" sz="1600" dirty="0"/>
                  <a:t>?</a:t>
                </a:r>
              </a:p>
              <a:p>
                <a:pPr marL="0" indent="0">
                  <a:buNone/>
                </a:pPr>
                <a:r>
                  <a:rPr lang="en-US" sz="1600" dirty="0"/>
                  <a:t>Naive Bayes solves </a:t>
                </a:r>
                <a:r>
                  <a:rPr lang="en-US" sz="1600" b="1" dirty="0"/>
                  <a:t>classification problems</a:t>
                </a:r>
                <a:r>
                  <a:rPr lang="en-US" sz="1600" dirty="0"/>
                  <a:t> by using </a:t>
                </a:r>
                <a:r>
                  <a:rPr lang="en-US" sz="1600" b="1" dirty="0"/>
                  <a:t>probability theory</a:t>
                </a:r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:r>
                  <a:rPr lang="en-US" sz="1600" dirty="0"/>
                  <a:t>Instead of guessing directly, it asks:</a:t>
                </a:r>
              </a:p>
              <a:p>
                <a:pPr marL="0" indent="0" algn="ctr">
                  <a:buNone/>
                </a:pPr>
                <a:r>
                  <a:rPr lang="en-US" sz="1600" b="1" dirty="0"/>
                  <a:t>“Given what I see, which class is most likely?”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Bayes’ Theorem </a:t>
                </a:r>
              </a:p>
              <a:p>
                <a:r>
                  <a:rPr lang="en-IN" sz="1600" dirty="0"/>
                  <a:t>Bayes’ theorem allows us to </a:t>
                </a:r>
                <a:r>
                  <a:rPr lang="en-IN" sz="1600" b="1" dirty="0"/>
                  <a:t>reverse conditional probabilities</a:t>
                </a:r>
                <a:r>
                  <a:rPr lang="en-IN" sz="1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𝑪</m:t>
                          </m:r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𝑿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f>
                        <m:fPr>
                          <m:ctrlPr>
                            <a:rPr lang="ar-AE" sz="1600" b="1" i="1"/>
                          </m:ctrlPr>
                        </m:fPr>
                        <m:num>
                          <m:r>
                            <a:rPr lang="ar-AE" sz="1600" b="1" i="1"/>
                            <m:t>𝑷</m:t>
                          </m:r>
                          <m:d>
                            <m:dPr>
                              <m:ctrlPr>
                                <a:rPr lang="ar-AE" sz="1600" b="1" i="1"/>
                              </m:ctrlPr>
                            </m:dPr>
                            <m:e>
                              <m:r>
                                <a:rPr lang="ar-AE" sz="1600" b="1" i="1"/>
                                <m:t>𝑿</m:t>
                              </m:r>
                              <m:r>
                                <a:rPr lang="ar-AE" sz="1600" b="1"/>
                                <m:t>∣</m:t>
                              </m:r>
                              <m:r>
                                <a:rPr lang="ar-AE" sz="1600" b="1" i="1"/>
                                <m:t>𝑪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600" b="1" i="1"/>
                            <m:t> </m:t>
                          </m:r>
                          <m:r>
                            <a:rPr lang="ar-AE" sz="1600" b="1" i="1"/>
                            <m:t>𝑷</m:t>
                          </m:r>
                          <m:d>
                            <m:dPr>
                              <m:ctrlPr>
                                <a:rPr lang="ar-AE" sz="1600" b="1" i="1"/>
                              </m:ctrlPr>
                            </m:dPr>
                            <m:e>
                              <m:r>
                                <a:rPr lang="ar-AE" sz="1600" b="1" i="1"/>
                                <m:t>𝑪</m:t>
                              </m:r>
                            </m:e>
                          </m:d>
                        </m:num>
                        <m:den>
                          <m:r>
                            <a:rPr lang="ar-AE" sz="1600" b="1" i="1"/>
                            <m:t>𝑷</m:t>
                          </m:r>
                          <m:d>
                            <m:dPr>
                              <m:ctrlPr>
                                <a:rPr lang="ar-AE" sz="1600" b="1" i="1"/>
                              </m:ctrlPr>
                            </m:d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1600" b="1" dirty="0"/>
              </a:p>
              <a:p>
                <a:pPr marL="0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19BABD-52DF-82FF-008C-D9A1A0B25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2"/>
                <a:stretch>
                  <a:fillRect l="-372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1D2344-E433-06C7-E7B6-36C05A65E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75061"/>
              </p:ext>
            </p:extLst>
          </p:nvPr>
        </p:nvGraphicFramePr>
        <p:xfrm>
          <a:off x="1703388" y="4174014"/>
          <a:ext cx="4636452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18226">
                  <a:extLst>
                    <a:ext uri="{9D8B030D-6E8A-4147-A177-3AD203B41FA5}">
                      <a16:colId xmlns:a16="http://schemas.microsoft.com/office/drawing/2014/main" val="2392457967"/>
                    </a:ext>
                  </a:extLst>
                </a:gridCol>
                <a:gridCol w="2318226">
                  <a:extLst>
                    <a:ext uri="{9D8B030D-6E8A-4147-A177-3AD203B41FA5}">
                      <a16:colId xmlns:a16="http://schemas.microsoft.com/office/drawing/2014/main" val="4113676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98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(P(C))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Prior probability (how frequent the class is)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885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(P(X))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Evidence (same for all classes)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5353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4697AC-25D8-9685-6859-FB9ADCFBA37E}"/>
                  </a:ext>
                </a:extLst>
              </p:cNvPr>
              <p:cNvSpPr txBox="1"/>
              <p:nvPr/>
            </p:nvSpPr>
            <p:spPr>
              <a:xfrm>
                <a:off x="6491796" y="4796135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IN" sz="18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is the same for all classes: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ar-AE" sz="1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 sz="1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1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1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ar-AE" sz="18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r>
                  <a:rPr lang="ar-AE" sz="18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➡ </a:t>
                </a:r>
                <a:r>
                  <a:rPr lang="en-IN" sz="18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We </a:t>
                </a:r>
                <a:r>
                  <a:rPr lang="en-IN" sz="18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do NOT calculate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IN" sz="18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in practice.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4697AC-25D8-9685-6859-FB9ADCFBA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796" y="4796135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1000" t="-3311" b="-10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85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DE29-5D38-6071-9B05-F3ABCF56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1B7E-CB3A-B223-EEFE-5AC938BEA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DC9E0-6C11-BAA3-8DFC-97B0DF40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CDD770D-DE6B-2DBD-4E80-017BE0EFC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600" b="1" dirty="0"/>
                  <a:t>Why “Naive”? </a:t>
                </a:r>
              </a:p>
              <a:p>
                <a:pPr marL="0" indent="0">
                  <a:buNone/>
                </a:pPr>
                <a:r>
                  <a:rPr lang="en-IN" sz="1600" dirty="0"/>
                  <a:t>Naive Bayes assumes: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Features are conditionally independent given the class</a:t>
                </a:r>
                <a:endParaRPr lang="en-IN" sz="1600" dirty="0"/>
              </a:p>
              <a:p>
                <a:r>
                  <a:rPr lang="en-IN" sz="1600" dirty="0"/>
                  <a:t>Mathematically: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sepChr m:val=","/>
                          <m:ctrlPr>
                            <a:rPr lang="ar-AE" sz="1600" b="1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𝟏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𝟐</m:t>
                              </m:r>
                            </m:sub>
                          </m:sSub>
                        </m:e>
                        <m:e>
                          <m:r>
                            <a:rPr lang="ar-AE" sz="1600" b="1"/>
                            <m:t>.</m:t>
                          </m:r>
                        </m:e>
                        <m:e>
                          <m:r>
                            <a:rPr lang="ar-AE" sz="1600" b="1"/>
                            <m:t>..</m:t>
                          </m:r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𝒏</m:t>
                              </m:r>
                            </m:sub>
                          </m:sSub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𝑪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r>
                        <a:rPr lang="ar-AE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𝟏</m:t>
                              </m:r>
                            </m:sub>
                          </m:sSub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𝑪</m:t>
                          </m:r>
                        </m:e>
                      </m:d>
                      <m:r>
                        <a:rPr lang="ar-AE" sz="1600" b="1"/>
                        <m:t>×</m:t>
                      </m:r>
                      <m:r>
                        <a:rPr lang="ar-AE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𝟐</m:t>
                              </m:r>
                            </m:sub>
                          </m:sSub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𝑪</m:t>
                          </m:r>
                        </m:e>
                      </m:d>
                      <m:r>
                        <a:rPr lang="ar-AE" sz="1600" b="1"/>
                        <m:t>×...×</m:t>
                      </m:r>
                      <m:r>
                        <a:rPr lang="ar-AE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𝒏</m:t>
                              </m:r>
                            </m:sub>
                          </m:sSub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𝑪</m:t>
                          </m:r>
                        </m:e>
                      </m:d>
                    </m:oMath>
                  </m:oMathPara>
                </a14:m>
                <a:endParaRPr lang="ar-AE" sz="1600" b="1" dirty="0"/>
              </a:p>
              <a:p>
                <a:pPr marL="0" indent="0">
                  <a:buNone/>
                </a:pPr>
                <a:endParaRPr lang="ar-AE" sz="1600" b="1" dirty="0"/>
              </a:p>
              <a:p>
                <a:r>
                  <a:rPr lang="en-US" sz="1600" dirty="0"/>
                  <a:t>If the class is known:</a:t>
                </a:r>
              </a:p>
              <a:p>
                <a:r>
                  <a:rPr lang="en-US" sz="1600" dirty="0"/>
                  <a:t>Knowing feature 1 gives </a:t>
                </a:r>
                <a:r>
                  <a:rPr lang="en-US" sz="1600" b="1" dirty="0"/>
                  <a:t>no information</a:t>
                </a:r>
                <a:r>
                  <a:rPr lang="en-US" sz="1600" dirty="0"/>
                  <a:t> about feature 2</a:t>
                </a:r>
              </a:p>
              <a:p>
                <a:pPr marL="0" indent="0">
                  <a:buNone/>
                </a:pPr>
                <a:r>
                  <a:rPr lang="en-US" sz="1600" dirty="0"/>
                  <a:t>Example:</a:t>
                </a:r>
              </a:p>
              <a:p>
                <a:r>
                  <a:rPr lang="en-US" sz="1600" dirty="0"/>
                  <a:t>If an email is spam:</a:t>
                </a:r>
              </a:p>
              <a:p>
                <a:pPr lvl="1"/>
                <a:r>
                  <a:rPr lang="en-US" sz="1600" dirty="0"/>
                  <a:t>Word “Free” does not affect word “Win”</a:t>
                </a:r>
              </a:p>
              <a:p>
                <a:r>
                  <a:rPr lang="en-US" sz="1600" dirty="0"/>
                  <a:t>This assumption is </a:t>
                </a:r>
                <a:r>
                  <a:rPr lang="en-US" sz="1600" b="1" dirty="0"/>
                  <a:t>naive</a:t>
                </a:r>
                <a:r>
                  <a:rPr lang="en-US" sz="1600" dirty="0"/>
                  <a:t> because in reality:</a:t>
                </a:r>
              </a:p>
              <a:p>
                <a:r>
                  <a:rPr lang="en-US" sz="1600" dirty="0"/>
                  <a:t>Words are correlated</a:t>
                </a:r>
              </a:p>
              <a:p>
                <a:r>
                  <a:rPr lang="en-US" sz="1600" dirty="0"/>
                  <a:t>Yet:</a:t>
                </a:r>
                <a:br>
                  <a:rPr lang="en-US" sz="1600" dirty="0"/>
                </a:br>
                <a:r>
                  <a:rPr lang="en-US" sz="1600" dirty="0"/>
                  <a:t>Model works well in practice</a:t>
                </a:r>
                <a:br>
                  <a:rPr lang="en-US" sz="1600" dirty="0"/>
                </a:br>
                <a:r>
                  <a:rPr lang="en-US" sz="1600" dirty="0"/>
                  <a:t>Especially with large data</a:t>
                </a:r>
              </a:p>
              <a:p>
                <a:pPr marL="0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CDD770D-DE6B-2DBD-4E80-017BE0EFC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2"/>
                <a:stretch>
                  <a:fillRect l="-372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45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CDED5-0DAD-81F0-3AD7-A4F3D7F1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1D6E-6314-7ADF-AE40-56ADCE42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02A30-33A3-6522-2982-64300C52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5F951-0098-E918-94AD-C865874DF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Example (Spam Classification)</a:t>
            </a:r>
          </a:p>
          <a:p>
            <a:r>
              <a:rPr lang="en-IN" sz="1600" dirty="0"/>
              <a:t>Email contains:</a:t>
            </a:r>
          </a:p>
          <a:p>
            <a:pPr marL="0" indent="0" algn="ctr">
              <a:buNone/>
            </a:pPr>
            <a:r>
              <a:rPr lang="en-IN" sz="1600" b="1" dirty="0"/>
              <a:t>“Free Win Offer”</a:t>
            </a:r>
            <a:endParaRPr lang="en-IN" sz="1600" dirty="0"/>
          </a:p>
          <a:p>
            <a:r>
              <a:rPr lang="en-IN" sz="1600" dirty="0"/>
              <a:t>Naive Bayes treats it as:</a:t>
            </a:r>
          </a:p>
          <a:p>
            <a:pPr marL="0" indent="0" algn="ctr">
              <a:buNone/>
            </a:pPr>
            <a:r>
              <a:rPr lang="en-IN" sz="1600" b="1" dirty="0"/>
              <a:t>P(</a:t>
            </a:r>
            <a:r>
              <a:rPr lang="en-IN" sz="1600" b="1" dirty="0" err="1"/>
              <a:t>Free,Win,Offer∣Spam</a:t>
            </a:r>
            <a:r>
              <a:rPr lang="en-IN" sz="1600" b="1" dirty="0"/>
              <a:t>)=P(</a:t>
            </a:r>
            <a:r>
              <a:rPr lang="en-IN" sz="1600" b="1" dirty="0" err="1"/>
              <a:t>Free∣Spam</a:t>
            </a:r>
            <a:r>
              <a:rPr lang="en-IN" sz="1600" b="1" dirty="0"/>
              <a:t>)P(</a:t>
            </a:r>
            <a:r>
              <a:rPr lang="en-IN" sz="1600" b="1" dirty="0" err="1"/>
              <a:t>Win∣Spam</a:t>
            </a:r>
            <a:r>
              <a:rPr lang="en-IN" sz="1600" b="1" dirty="0"/>
              <a:t>)P(</a:t>
            </a:r>
            <a:r>
              <a:rPr lang="en-IN" sz="1600" b="1" dirty="0" err="1"/>
              <a:t>Offer∣Spam</a:t>
            </a:r>
            <a:r>
              <a:rPr lang="en-IN" sz="1600" b="1" dirty="0"/>
              <a:t>)</a:t>
            </a:r>
            <a:endParaRPr lang="ar-AE" sz="1600" b="1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2229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EA92-9C67-84AD-FAC5-CA7A9842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1FA1-E39D-7888-3FA1-6DDB34E5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51005-C16D-193F-C912-E80B4192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317FD-9A19-1B89-50A7-B31B1355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5164328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Types of Naive Bayes </a:t>
            </a:r>
          </a:p>
          <a:p>
            <a:pPr marL="0" indent="0">
              <a:buNone/>
            </a:pPr>
            <a:r>
              <a:rPr lang="en-US" sz="1600" b="1" dirty="0"/>
              <a:t>1 Gaussian Naive Bayes</a:t>
            </a:r>
          </a:p>
          <a:p>
            <a:r>
              <a:rPr lang="en-US" sz="1600" dirty="0"/>
              <a:t>Used when:</a:t>
            </a:r>
          </a:p>
          <a:p>
            <a:r>
              <a:rPr lang="en-US" sz="1600" dirty="0"/>
              <a:t>Features are </a:t>
            </a:r>
            <a:r>
              <a:rPr lang="en-US" sz="1600" b="1" dirty="0"/>
              <a:t>continuous</a:t>
            </a:r>
            <a:endParaRPr lang="en-US" sz="1600" dirty="0"/>
          </a:p>
          <a:p>
            <a:r>
              <a:rPr lang="en-US" sz="1600" dirty="0"/>
              <a:t>Assumes </a:t>
            </a:r>
            <a:r>
              <a:rPr lang="en-US" sz="1600" b="1" dirty="0"/>
              <a:t>normal distribution</a:t>
            </a:r>
            <a:endParaRPr lang="en-US" sz="1600" dirty="0"/>
          </a:p>
          <a:p>
            <a:r>
              <a:rPr lang="en-US" sz="1600" dirty="0"/>
              <a:t>Example:</a:t>
            </a:r>
          </a:p>
          <a:p>
            <a:r>
              <a:rPr lang="en-US" sz="1600" dirty="0"/>
              <a:t>Height</a:t>
            </a:r>
          </a:p>
          <a:p>
            <a:r>
              <a:rPr lang="en-US" sz="1600" dirty="0"/>
              <a:t>Marks</a:t>
            </a:r>
          </a:p>
          <a:p>
            <a:r>
              <a:rPr lang="en-US" sz="1600" dirty="0"/>
              <a:t>Temperature</a:t>
            </a:r>
          </a:p>
          <a:p>
            <a:pPr marL="0" indent="0">
              <a:buNone/>
            </a:pPr>
            <a:r>
              <a:rPr lang="en-US" sz="1600" b="1" dirty="0"/>
              <a:t>2 Multinomial Naive Bayes</a:t>
            </a:r>
          </a:p>
          <a:p>
            <a:r>
              <a:rPr lang="en-US" sz="1600" dirty="0"/>
              <a:t>Used when:</a:t>
            </a:r>
          </a:p>
          <a:p>
            <a:r>
              <a:rPr lang="en-US" sz="1600" dirty="0"/>
              <a:t>Features are </a:t>
            </a:r>
            <a:r>
              <a:rPr lang="en-US" sz="1600" b="1" dirty="0"/>
              <a:t>counts</a:t>
            </a:r>
            <a:endParaRPr lang="en-US" sz="1600" dirty="0"/>
          </a:p>
          <a:p>
            <a:r>
              <a:rPr lang="en-US" sz="1600" dirty="0"/>
              <a:t>Example:</a:t>
            </a:r>
          </a:p>
          <a:p>
            <a:r>
              <a:rPr lang="en-US" sz="1600" dirty="0"/>
              <a:t>Word frequency in documents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5FFEB-E38D-231C-8028-F791FB7BA3C5}"/>
              </a:ext>
            </a:extLst>
          </p:cNvPr>
          <p:cNvSpPr txBox="1"/>
          <p:nvPr/>
        </p:nvSpPr>
        <p:spPr>
          <a:xfrm>
            <a:off x="6786880" y="312079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3 Bernoulli Naive Bayes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Used when: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Features are </a:t>
            </a: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binary (0/1)</a:t>
            </a: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Example: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Word present or absent</a:t>
            </a:r>
          </a:p>
          <a:p>
            <a:pPr marL="0" indent="0">
              <a:buNone/>
            </a:pP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67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F16C-4B88-6653-A9C7-0238D553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EBFA-A5B0-9C67-3F28-B0C541DF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1CB22-69FC-4C21-CCF8-A2064D26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EFB3EB-ED5B-1FAC-ECA8-5C6BA4CE0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370568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Problem Statement 1</a:t>
                </a:r>
              </a:p>
              <a:p>
                <a:r>
                  <a:rPr lang="en-US" sz="1800" dirty="0"/>
                  <a:t>Classify an email as </a:t>
                </a:r>
                <a:r>
                  <a:rPr lang="en-US" sz="1800" b="1" dirty="0"/>
                  <a:t>Spam or Ham</a:t>
                </a:r>
                <a:endParaRPr lang="en-US" sz="1800" dirty="0"/>
              </a:p>
              <a:p>
                <a:r>
                  <a:rPr lang="en-US" sz="1800" dirty="0"/>
                  <a:t>Given: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r>
                  <a:rPr lang="en-IN" sz="1800" dirty="0"/>
                  <a:t>Prior probabilities: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𝑺𝒑𝒂𝒎</m:t>
                          </m:r>
                        </m:e>
                      </m:d>
                      <m:r>
                        <a:rPr lang="ar-AE" sz="1800" b="1"/>
                        <m:t>=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𝟒</m:t>
                      </m:r>
                    </m:oMath>
                  </m:oMathPara>
                </a14:m>
                <a:endParaRPr lang="ar-AE" sz="1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𝑯𝒂𝒎</m:t>
                          </m:r>
                        </m:e>
                      </m:d>
                      <m:r>
                        <a:rPr lang="ar-AE" sz="1800" b="1"/>
                        <m:t>=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𝟔</m:t>
                      </m:r>
                    </m:oMath>
                  </m:oMathPara>
                </a14:m>
                <a:endParaRPr lang="ar-AE" sz="1800" b="1" dirty="0"/>
              </a:p>
              <a:p>
                <a:r>
                  <a:rPr lang="en-IN" sz="1800" dirty="0"/>
                  <a:t>Email text:</a:t>
                </a:r>
              </a:p>
              <a:p>
                <a:pPr marL="0" indent="0" algn="ctr">
                  <a:buNone/>
                </a:pPr>
                <a:r>
                  <a:rPr lang="en-IN" sz="1800" b="1" dirty="0"/>
                  <a:t>“Free Offer”</a:t>
                </a:r>
                <a:endParaRPr lang="en-IN" sz="1800" dirty="0"/>
              </a:p>
              <a:p>
                <a:pPr marL="0" indent="0">
                  <a:buNone/>
                </a:pPr>
                <a:r>
                  <a:rPr lang="en-IN" sz="1800" b="1" dirty="0"/>
                  <a:t>Step 1: Calculate Spam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𝑺𝒑𝒂𝒎</m:t>
                          </m:r>
                          <m:r>
                            <a:rPr lang="ar-AE" sz="1800" b="1"/>
                            <m:t>∣</m:t>
                          </m:r>
                          <m:r>
                            <a:rPr lang="ar-AE" sz="1800" b="1" i="1"/>
                            <m:t>𝑿</m:t>
                          </m:r>
                        </m:e>
                      </m:d>
                      <m:r>
                        <a:rPr lang="ar-AE" sz="1800" b="1"/>
                        <m:t>∝</m:t>
                      </m:r>
                      <m:r>
                        <a:rPr lang="ar-AE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𝑺𝒑𝒂𝒎</m:t>
                          </m:r>
                        </m:e>
                      </m:d>
                      <m:r>
                        <a:rPr lang="ar-AE" sz="1800" b="1"/>
                        <m:t>×</m:t>
                      </m:r>
                      <m:r>
                        <a:rPr lang="ar-AE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𝑭𝒓𝒆𝒆</m:t>
                          </m:r>
                          <m:r>
                            <a:rPr lang="ar-AE" sz="1800" b="1"/>
                            <m:t>∣</m:t>
                          </m:r>
                          <m:r>
                            <a:rPr lang="ar-AE" sz="1800" b="1" i="1"/>
                            <m:t>𝑺𝒑𝒂𝒎</m:t>
                          </m:r>
                        </m:e>
                      </m:d>
                      <m:r>
                        <a:rPr lang="ar-AE" sz="1800" b="1"/>
                        <m:t>×</m:t>
                      </m:r>
                      <m:r>
                        <a:rPr lang="ar-AE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𝑶𝒇𝒇𝒆𝒓</m:t>
                          </m:r>
                          <m:r>
                            <a:rPr lang="ar-AE" sz="1800" b="1"/>
                            <m:t>∣</m:t>
                          </m:r>
                          <m:r>
                            <a:rPr lang="ar-AE" sz="1800" b="1" i="1"/>
                            <m:t>𝑺𝒑𝒂𝒎</m:t>
                          </m:r>
                        </m:e>
                      </m:d>
                    </m:oMath>
                  </m:oMathPara>
                </a14:m>
                <a:endParaRPr lang="ar-AE" sz="1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b="1"/>
                        <m:t>=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𝟒</m:t>
                      </m:r>
                      <m:r>
                        <a:rPr lang="ar-AE" sz="1800" b="1"/>
                        <m:t>×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𝟔</m:t>
                      </m:r>
                      <m:r>
                        <a:rPr lang="ar-AE" sz="1800" b="1"/>
                        <m:t>×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𝟓</m:t>
                      </m:r>
                      <m:r>
                        <a:rPr lang="ar-AE" sz="1800" b="1"/>
                        <m:t>=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𝟏𝟐</m:t>
                      </m:r>
                    </m:oMath>
                  </m:oMathPara>
                </a14:m>
                <a:endParaRPr lang="ar-AE" sz="1800" b="1" dirty="0"/>
              </a:p>
              <a:p>
                <a:endParaRPr lang="en-US" sz="1800" dirty="0"/>
              </a:p>
              <a:p>
                <a:pPr marL="0" indent="0">
                  <a:buNone/>
                </a:pPr>
                <a:br>
                  <a:rPr lang="en-US" sz="1800" dirty="0"/>
                </a:br>
                <a:endParaRPr lang="en-US" sz="1800" dirty="0"/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EFB3EB-ED5B-1FAC-ECA8-5C6BA4CE0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370568" cy="5496243"/>
              </a:xfrm>
              <a:blipFill>
                <a:blip r:embed="rId2"/>
                <a:stretch>
                  <a:fillRect l="-586" t="-11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7BF4F7-3283-80A8-8495-3DAF9B693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3277"/>
              </p:ext>
            </p:extLst>
          </p:nvPr>
        </p:nvGraphicFramePr>
        <p:xfrm>
          <a:off x="1691704" y="1684814"/>
          <a:ext cx="4545012" cy="13388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7411">
                  <a:extLst>
                    <a:ext uri="{9D8B030D-6E8A-4147-A177-3AD203B41FA5}">
                      <a16:colId xmlns:a16="http://schemas.microsoft.com/office/drawing/2014/main" val="1598516435"/>
                    </a:ext>
                  </a:extLst>
                </a:gridCol>
                <a:gridCol w="1351280">
                  <a:extLst>
                    <a:ext uri="{9D8B030D-6E8A-4147-A177-3AD203B41FA5}">
                      <a16:colId xmlns:a16="http://schemas.microsoft.com/office/drawing/2014/main" val="2580257670"/>
                    </a:ext>
                  </a:extLst>
                </a:gridCol>
                <a:gridCol w="2306321">
                  <a:extLst>
                    <a:ext uri="{9D8B030D-6E8A-4147-A177-3AD203B41FA5}">
                      <a16:colId xmlns:a16="http://schemas.microsoft.com/office/drawing/2014/main" val="656364208"/>
                    </a:ext>
                  </a:extLst>
                </a:gridCol>
              </a:tblGrid>
              <a:tr h="3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Word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P(Word | Spam)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P(Word | Ham)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382620"/>
                  </a:ext>
                </a:extLst>
              </a:tr>
              <a:tr h="3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678880"/>
                  </a:ext>
                </a:extLst>
              </a:tr>
              <a:tr h="3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Offer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167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13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BBAD-070F-A48E-67CA-272D43BA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72E3-3DC8-7987-FCB7-6804DF14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A7CAE-C01D-6716-CBDD-02BF8491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ABD36DC-9F50-2D86-FFA4-B6F5D95C29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4757928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Problem Statement 1</a:t>
                </a:r>
              </a:p>
              <a:p>
                <a:r>
                  <a:rPr lang="en-US" sz="1800" dirty="0"/>
                  <a:t>Classify an email as </a:t>
                </a:r>
                <a:r>
                  <a:rPr lang="en-US" sz="1800" b="1" dirty="0"/>
                  <a:t>Spam or Ham</a:t>
                </a:r>
                <a:endParaRPr lang="en-US" sz="1800" dirty="0"/>
              </a:p>
              <a:p>
                <a:r>
                  <a:rPr lang="en-US" sz="1800" dirty="0"/>
                  <a:t>Given: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r>
                  <a:rPr lang="en-IN" sz="1800" dirty="0"/>
                  <a:t>Prior probabilities: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ar-AE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b="1" i="1">
                              <a:latin typeface="Cambria Math" panose="02040503050406030204" pitchFamily="18" charset="0"/>
                            </a:rPr>
                            <m:t>𝑺𝒑𝒂𝒎</m:t>
                          </m:r>
                        </m:e>
                      </m:d>
                      <m:r>
                        <a:rPr lang="ar-AE" sz="1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ar-AE" sz="18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ar-AE" sz="1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ar-AE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b="1" i="1">
                              <a:latin typeface="Cambria Math" panose="02040503050406030204" pitchFamily="18" charset="0"/>
                            </a:rPr>
                            <m:t>𝑯𝒂𝒎</m:t>
                          </m:r>
                        </m:e>
                      </m:d>
                      <m:r>
                        <a:rPr lang="ar-AE" sz="1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ar-AE" sz="18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ar-AE" sz="1800" b="1" dirty="0"/>
              </a:p>
              <a:p>
                <a:r>
                  <a:rPr lang="en-IN" sz="1800" dirty="0"/>
                  <a:t>Email text:</a:t>
                </a:r>
              </a:p>
              <a:p>
                <a:pPr marL="0" indent="0" algn="ctr">
                  <a:buNone/>
                </a:pPr>
                <a:r>
                  <a:rPr lang="en-IN" sz="1800" b="1" dirty="0"/>
                  <a:t>“Free Offer”</a:t>
                </a:r>
                <a:endParaRPr lang="en-IN" sz="1800" dirty="0"/>
              </a:p>
              <a:p>
                <a:pPr marL="0" indent="0">
                  <a:buNone/>
                </a:pPr>
                <a:r>
                  <a:rPr lang="en-IN" sz="1800" b="1" dirty="0"/>
                  <a:t>Step 2: Calculate Ham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a:rPr lang="ar-AE" sz="1800" b="1" i="1"/>
                            <m:t>𝑯𝒂𝒎</m:t>
                          </m:r>
                          <m:r>
                            <a:rPr lang="ar-AE" sz="1800" b="1"/>
                            <m:t>∣</m:t>
                          </m:r>
                          <m:r>
                            <a:rPr lang="ar-AE" sz="1800" b="1" i="1"/>
                            <m:t>𝑿</m:t>
                          </m:r>
                        </m:e>
                      </m:d>
                      <m:r>
                        <a:rPr lang="ar-AE" sz="1800" b="1"/>
                        <m:t>∝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𝟔</m:t>
                      </m:r>
                      <m:r>
                        <a:rPr lang="ar-AE" sz="1800" b="1"/>
                        <m:t>×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𝟏</m:t>
                      </m:r>
                      <m:r>
                        <a:rPr lang="ar-AE" sz="1800" b="1"/>
                        <m:t>×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𝟐</m:t>
                      </m:r>
                      <m:r>
                        <a:rPr lang="ar-AE" sz="1800" b="1"/>
                        <m:t>=</m:t>
                      </m:r>
                      <m:r>
                        <a:rPr lang="ar-AE" sz="1800" b="1" i="1"/>
                        <m:t>𝟎</m:t>
                      </m:r>
                      <m:r>
                        <a:rPr lang="ar-AE" sz="1800" b="1"/>
                        <m:t>.</m:t>
                      </m:r>
                      <m:r>
                        <a:rPr lang="ar-AE" sz="1800" b="1" i="1"/>
                        <m:t>𝟎𝟏𝟐</m:t>
                      </m:r>
                    </m:oMath>
                  </m:oMathPara>
                </a14:m>
                <a:endParaRPr lang="ar-AE" sz="1800" b="1" dirty="0"/>
              </a:p>
              <a:p>
                <a:endParaRPr lang="en-US" sz="1800" dirty="0"/>
              </a:p>
              <a:p>
                <a:pPr marL="0" indent="0">
                  <a:buNone/>
                </a:pPr>
                <a:br>
                  <a:rPr lang="en-US" sz="1800" dirty="0"/>
                </a:br>
                <a:endParaRPr lang="en-US" sz="1800" dirty="0"/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ABD36DC-9F50-2D86-FFA4-B6F5D95C2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4757928" cy="5496243"/>
              </a:xfrm>
              <a:blipFill>
                <a:blip r:embed="rId2"/>
                <a:stretch>
                  <a:fillRect l="-1154" t="-11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993B9AA-17D1-566E-45E4-D8EC5B5B22E3}"/>
              </a:ext>
            </a:extLst>
          </p:cNvPr>
          <p:cNvGraphicFramePr>
            <a:graphicFrameLocks noGrp="1"/>
          </p:cNvGraphicFramePr>
          <p:nvPr/>
        </p:nvGraphicFramePr>
        <p:xfrm>
          <a:off x="1691704" y="1684814"/>
          <a:ext cx="4545012" cy="13388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7411">
                  <a:extLst>
                    <a:ext uri="{9D8B030D-6E8A-4147-A177-3AD203B41FA5}">
                      <a16:colId xmlns:a16="http://schemas.microsoft.com/office/drawing/2014/main" val="1598516435"/>
                    </a:ext>
                  </a:extLst>
                </a:gridCol>
                <a:gridCol w="1351280">
                  <a:extLst>
                    <a:ext uri="{9D8B030D-6E8A-4147-A177-3AD203B41FA5}">
                      <a16:colId xmlns:a16="http://schemas.microsoft.com/office/drawing/2014/main" val="2580257670"/>
                    </a:ext>
                  </a:extLst>
                </a:gridCol>
                <a:gridCol w="2306321">
                  <a:extLst>
                    <a:ext uri="{9D8B030D-6E8A-4147-A177-3AD203B41FA5}">
                      <a16:colId xmlns:a16="http://schemas.microsoft.com/office/drawing/2014/main" val="656364208"/>
                    </a:ext>
                  </a:extLst>
                </a:gridCol>
              </a:tblGrid>
              <a:tr h="3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Word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P(Word | Spam)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P(Word | Ham)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382620"/>
                  </a:ext>
                </a:extLst>
              </a:tr>
              <a:tr h="3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678880"/>
                  </a:ext>
                </a:extLst>
              </a:tr>
              <a:tr h="379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Offer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1671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CECC2B-264E-3E21-D091-4C970B53B35D}"/>
              </a:ext>
            </a:extLst>
          </p:cNvPr>
          <p:cNvSpPr txBox="1"/>
          <p:nvPr/>
        </p:nvSpPr>
        <p:spPr>
          <a:xfrm>
            <a:off x="6380480" y="342141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 3: Compare Scores</a:t>
            </a:r>
          </a:p>
          <a:p>
            <a:endParaRPr lang="en-IN" sz="1600" b="1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3AB8E2-C379-10B3-71BA-B33169A06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54348"/>
              </p:ext>
            </p:extLst>
          </p:nvPr>
        </p:nvGraphicFramePr>
        <p:xfrm>
          <a:off x="6796056" y="3818414"/>
          <a:ext cx="4685728" cy="10888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42864">
                  <a:extLst>
                    <a:ext uri="{9D8B030D-6E8A-4147-A177-3AD203B41FA5}">
                      <a16:colId xmlns:a16="http://schemas.microsoft.com/office/drawing/2014/main" val="1373734016"/>
                    </a:ext>
                  </a:extLst>
                </a:gridCol>
                <a:gridCol w="2342864">
                  <a:extLst>
                    <a:ext uri="{9D8B030D-6E8A-4147-A177-3AD203B41FA5}">
                      <a16:colId xmlns:a16="http://schemas.microsoft.com/office/drawing/2014/main" val="117034015"/>
                    </a:ext>
                  </a:extLst>
                </a:gridCol>
              </a:tblGrid>
              <a:tr h="362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014656"/>
                  </a:ext>
                </a:extLst>
              </a:tr>
              <a:tr h="362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0.12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994506"/>
                  </a:ext>
                </a:extLst>
              </a:tr>
              <a:tr h="3629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0.012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6320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42D142-8863-6DED-F838-A3D0134B8335}"/>
              </a:ext>
            </a:extLst>
          </p:cNvPr>
          <p:cNvSpPr txBox="1"/>
          <p:nvPr/>
        </p:nvSpPr>
        <p:spPr>
          <a:xfrm>
            <a:off x="6796056" y="5262482"/>
            <a:ext cx="623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Montserrat" panose="00000500000000000000" pitchFamily="2" charset="0"/>
              </a:rPr>
              <a:t>Prediction: Spam</a:t>
            </a:r>
            <a:endParaRPr lang="en-IN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32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DB6AD-ED05-D792-32F6-EC28D5B9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9BAC-4ADC-68D8-4F8F-95F09664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AF06C-A91C-F4D1-9D01-6C9B081C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D17E861-8C5F-53F8-0783-8089D03EBA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4114800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Problem Statement 2</a:t>
                </a:r>
              </a:p>
              <a:p>
                <a:r>
                  <a:rPr lang="en-US" sz="1600" b="1" dirty="0"/>
                  <a:t>Given Data</a:t>
                </a:r>
              </a:p>
              <a:p>
                <a:endParaRPr lang="en-US" sz="1600" b="1" dirty="0"/>
              </a:p>
              <a:p>
                <a:endParaRPr lang="en-US" sz="1600" b="1" dirty="0"/>
              </a:p>
              <a:p>
                <a:endParaRPr lang="en-US" sz="1600" b="1" dirty="0"/>
              </a:p>
              <a:p>
                <a:endParaRPr lang="en-US" sz="1600" b="1" dirty="0"/>
              </a:p>
              <a:p>
                <a:endParaRPr lang="en-IN" sz="1600" dirty="0"/>
              </a:p>
              <a:p>
                <a:r>
                  <a:rPr lang="en-IN" sz="1600" dirty="0"/>
                  <a:t>Priors: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𝑺𝒑𝒂𝒎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r>
                        <a:rPr lang="ar-AE" sz="1600" b="1" i="1"/>
                        <m:t>𝟎</m:t>
                      </m:r>
                      <m:r>
                        <a:rPr lang="ar-AE" sz="1600" b="1"/>
                        <m:t>.</m:t>
                      </m:r>
                      <m:r>
                        <a:rPr lang="ar-AE" sz="1600" b="1" i="1"/>
                        <m:t>𝟑</m:t>
                      </m:r>
                    </m:oMath>
                  </m:oMathPara>
                </a14:m>
                <a:endParaRPr lang="ar-AE" sz="16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𝑯𝒂𝒎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r>
                        <a:rPr lang="ar-AE" sz="1600" b="1" i="1"/>
                        <m:t>𝟎</m:t>
                      </m:r>
                      <m:r>
                        <a:rPr lang="ar-AE" sz="1600" b="1"/>
                        <m:t>.</m:t>
                      </m:r>
                      <m:r>
                        <a:rPr lang="ar-AE" sz="1600" b="1" i="1"/>
                        <m:t>𝟕</m:t>
                      </m:r>
                    </m:oMath>
                  </m:oMathPara>
                </a14:m>
                <a:endParaRPr lang="ar-AE" sz="1600" b="1" dirty="0"/>
              </a:p>
              <a:p>
                <a:r>
                  <a:rPr lang="en-IN" sz="1600" dirty="0"/>
                  <a:t>Email:</a:t>
                </a:r>
              </a:p>
              <a:p>
                <a:r>
                  <a:rPr lang="en-IN" sz="1600" b="1" dirty="0"/>
                  <a:t>“Free Win”</a:t>
                </a:r>
                <a:endParaRPr lang="en-IN" sz="1600" dirty="0"/>
              </a:p>
              <a:p>
                <a:endParaRPr lang="en-US" sz="1600" b="1" dirty="0"/>
              </a:p>
              <a:p>
                <a:endParaRPr lang="en-US" sz="1600" dirty="0"/>
              </a:p>
              <a:p>
                <a:pPr marL="0" indent="0">
                  <a:buNone/>
                </a:pPr>
                <a:br>
                  <a:rPr lang="en-US" sz="1600" dirty="0"/>
                </a:br>
                <a:endParaRPr lang="en-US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D17E861-8C5F-53F8-0783-8089D03EBA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4114800" cy="5496243"/>
              </a:xfrm>
              <a:blipFill>
                <a:blip r:embed="rId2"/>
                <a:stretch>
                  <a:fillRect l="-889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FCC979-7FDC-E26A-7EB1-AFD82647D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74470"/>
              </p:ext>
            </p:extLst>
          </p:nvPr>
        </p:nvGraphicFramePr>
        <p:xfrm>
          <a:off x="1959991" y="1481614"/>
          <a:ext cx="5588889" cy="14038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2963">
                  <a:extLst>
                    <a:ext uri="{9D8B030D-6E8A-4147-A177-3AD203B41FA5}">
                      <a16:colId xmlns:a16="http://schemas.microsoft.com/office/drawing/2014/main" val="1811060433"/>
                    </a:ext>
                  </a:extLst>
                </a:gridCol>
                <a:gridCol w="1862963">
                  <a:extLst>
                    <a:ext uri="{9D8B030D-6E8A-4147-A177-3AD203B41FA5}">
                      <a16:colId xmlns:a16="http://schemas.microsoft.com/office/drawing/2014/main" val="714930053"/>
                    </a:ext>
                  </a:extLst>
                </a:gridCol>
                <a:gridCol w="1862963">
                  <a:extLst>
                    <a:ext uri="{9D8B030D-6E8A-4147-A177-3AD203B41FA5}">
                      <a16:colId xmlns:a16="http://schemas.microsoft.com/office/drawing/2014/main" val="4176445862"/>
                    </a:ext>
                  </a:extLst>
                </a:gridCol>
              </a:tblGrid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Word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P(Word | Spam)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P(Word | Ham)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372713"/>
                  </a:ext>
                </a:extLst>
              </a:tr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52724"/>
                  </a:ext>
                </a:extLst>
              </a:tr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Win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454107"/>
                  </a:ext>
                </a:extLst>
              </a:tr>
              <a:tr h="350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15526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B5CD7-3632-FDBD-E050-46C8A6CFD8F2}"/>
                  </a:ext>
                </a:extLst>
              </p:cNvPr>
              <p:cNvSpPr txBox="1"/>
              <p:nvPr/>
            </p:nvSpPr>
            <p:spPr>
              <a:xfrm>
                <a:off x="5100320" y="4122896"/>
                <a:ext cx="609600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Spam Score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𝟏𝟐𝟔</m:t>
                      </m:r>
                    </m:oMath>
                  </m:oMathPara>
                </a14:m>
                <a:endParaRPr lang="en-IN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Ham Score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𝟎𝟓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𝟎𝟎𝟑𝟓</m:t>
                      </m:r>
                    </m:oMath>
                  </m:oMathPara>
                </a14:m>
                <a:endParaRPr lang="en-IN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➡ Spam detected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B5CD7-3632-FDBD-E050-46C8A6CFD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320" y="4122896"/>
                <a:ext cx="6096000" cy="1323439"/>
              </a:xfrm>
              <a:prstGeom prst="rect">
                <a:avLst/>
              </a:prstGeom>
              <a:blipFill>
                <a:blip r:embed="rId3"/>
                <a:stretch>
                  <a:fillRect l="-600" t="-1382" b="-5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61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DA71-F92C-B6F2-4AFD-B0FE0CDC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2D0A-8965-0943-B1F5-403905D4A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DA3ED-B483-95E6-BAAF-5135CF4C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D7A517D-0529-2DBF-8697-51901D88C3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065768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600" b="1" dirty="0"/>
                  <a:t>Problem Statement (</a:t>
                </a:r>
                <a:r>
                  <a:rPr lang="en-IN" sz="1600" dirty="0"/>
                  <a:t>Gaussian Naive Bayes)</a:t>
                </a:r>
                <a:endParaRPr lang="en-US" sz="1600" b="1" dirty="0"/>
              </a:p>
              <a:p>
                <a:r>
                  <a:rPr lang="en-US" sz="1600" dirty="0"/>
                  <a:t>We want to </a:t>
                </a:r>
                <a:r>
                  <a:rPr lang="en-US" sz="1600" b="1" dirty="0"/>
                  <a:t>predict whether a student Passes or Fails</a:t>
                </a:r>
                <a:r>
                  <a:rPr lang="en-US" sz="1600" dirty="0"/>
                  <a:t> based on their </a:t>
                </a:r>
                <a:r>
                  <a:rPr lang="en-US" sz="1600" b="1" dirty="0"/>
                  <a:t>marks</a:t>
                </a:r>
                <a:r>
                  <a:rPr lang="en-US" sz="1600" dirty="0"/>
                  <a:t> using </a:t>
                </a:r>
                <a:r>
                  <a:rPr lang="en-US" sz="1600" b="1" dirty="0"/>
                  <a:t>Gaussian Naive Bayes</a:t>
                </a:r>
                <a:r>
                  <a:rPr lang="en-US" sz="1600" dirty="0"/>
                  <a:t>.</a:t>
                </a:r>
              </a:p>
              <a:p>
                <a:r>
                  <a:rPr lang="en-IN" sz="1600" dirty="0"/>
                  <a:t>Given Training Statistics</a:t>
                </a:r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r>
                  <a:rPr lang="en-IN" sz="1600" b="1" dirty="0"/>
                  <a:t>New Student</a:t>
                </a:r>
              </a:p>
              <a:p>
                <a:pPr marL="0" indent="0" algn="ctr">
                  <a:buNone/>
                </a:pPr>
                <a:r>
                  <a:rPr lang="en-IN" sz="1600" b="1" dirty="0"/>
                  <a:t>Marks </a:t>
                </a:r>
                <a14:m>
                  <m:oMath xmlns:m="http://schemas.openxmlformats.org/officeDocument/2006/math">
                    <m:r>
                      <a:rPr lang="en-IN" sz="1600" b="1" i="1"/>
                      <m:t>𝒙</m:t>
                    </m:r>
                    <m:r>
                      <a:rPr lang="en-IN" sz="1600" b="1"/>
                      <m:t>=</m:t>
                    </m:r>
                    <m:r>
                      <a:rPr lang="en-IN" sz="1600" b="1" i="1"/>
                      <m:t>𝟔𝟓</m:t>
                    </m:r>
                  </m:oMath>
                </a14:m>
                <a:endParaRPr lang="en-IN" sz="1600" b="1" dirty="0"/>
              </a:p>
              <a:p>
                <a:r>
                  <a:rPr lang="en-IN" sz="1600" dirty="0"/>
                  <a:t>Assume </a:t>
                </a:r>
                <a:r>
                  <a:rPr lang="en-IN" sz="1600" b="1" dirty="0"/>
                  <a:t>equal priors</a:t>
                </a:r>
                <a:r>
                  <a:rPr lang="en-IN" sz="1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𝑷𝒂𝒔𝒔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r>
                        <a:rPr lang="ar-AE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𝑭𝒂𝒊𝒍</m:t>
                          </m:r>
                        </m:e>
                      </m:d>
                    </m:oMath>
                  </m:oMathPara>
                </a14:m>
                <a:endParaRPr lang="ar-AE" sz="1600" b="1" dirty="0"/>
              </a:p>
              <a:p>
                <a:r>
                  <a:rPr lang="en-IN" sz="1600" dirty="0"/>
                  <a:t>So decision depends </a:t>
                </a:r>
                <a:r>
                  <a:rPr lang="en-IN" sz="1600" b="1" dirty="0"/>
                  <a:t>only on likelihoods</a:t>
                </a:r>
                <a:r>
                  <a:rPr lang="en-IN" sz="1600" dirty="0"/>
                  <a:t>.</a:t>
                </a:r>
              </a:p>
              <a:p>
                <a:endParaRPr lang="en-IN" sz="1600" dirty="0"/>
              </a:p>
              <a:p>
                <a:endParaRPr lang="en-US" sz="1600" b="1" dirty="0"/>
              </a:p>
              <a:p>
                <a:endParaRPr lang="en-US" sz="1600" dirty="0"/>
              </a:p>
              <a:p>
                <a:pPr marL="0" indent="0">
                  <a:buNone/>
                </a:pPr>
                <a:br>
                  <a:rPr lang="en-US" sz="1600" dirty="0"/>
                </a:br>
                <a:endParaRPr lang="en-US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D7A517D-0529-2DBF-8697-51901D88C3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065768" cy="5496243"/>
              </a:xfrm>
              <a:blipFill>
                <a:blip r:embed="rId2"/>
                <a:stretch>
                  <a:fillRect l="-269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79ACF3-8BD2-9A5B-2202-D0AE38A67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8289"/>
              </p:ext>
            </p:extLst>
          </p:nvPr>
        </p:nvGraphicFramePr>
        <p:xfrm>
          <a:off x="1889538" y="2011521"/>
          <a:ext cx="5032692" cy="131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7564">
                  <a:extLst>
                    <a:ext uri="{9D8B030D-6E8A-4147-A177-3AD203B41FA5}">
                      <a16:colId xmlns:a16="http://schemas.microsoft.com/office/drawing/2014/main" val="3223159712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3815382493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621098035"/>
                    </a:ext>
                  </a:extLst>
                </a:gridCol>
              </a:tblGrid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Standard Deviation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σ)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227664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596526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39860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0CFF17-31D3-6D17-E26A-3278A6CEEE9A}"/>
                  </a:ext>
                </a:extLst>
              </p:cNvPr>
              <p:cNvSpPr txBox="1"/>
              <p:nvPr/>
            </p:nvSpPr>
            <p:spPr>
              <a:xfrm>
                <a:off x="7122160" y="4432112"/>
                <a:ext cx="4541520" cy="1475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1: Gaussian Probability Density Function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Gaussian Naive Bayes assumes: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sSup>
                                        <m:sSupPr>
                                          <m:ctrlPr>
                                            <a:rPr lang="ar-AE" sz="16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sz="16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sz="16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 sz="16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0CFF17-31D3-6D17-E26A-3278A6CEE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160" y="4432112"/>
                <a:ext cx="4541520" cy="1475725"/>
              </a:xfrm>
              <a:prstGeom prst="rect">
                <a:avLst/>
              </a:prstGeom>
              <a:blipFill>
                <a:blip r:embed="rId3"/>
                <a:stretch>
                  <a:fillRect l="-671" t="-1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64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CB919-9C24-B673-1F18-D19603C3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DC09-B8B8-495A-281F-3138A017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8181A-E171-E081-AE03-4D68F8228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6A6B0-F588-C8BD-50CA-9777A045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5672328" cy="5496243"/>
          </a:xfrm>
        </p:spPr>
        <p:txBody>
          <a:bodyPr>
            <a:noAutofit/>
          </a:bodyPr>
          <a:lstStyle/>
          <a:p>
            <a:r>
              <a:rPr lang="en-US" sz="1600" b="1" dirty="0"/>
              <a:t>Problem Statement (</a:t>
            </a:r>
            <a:r>
              <a:rPr lang="en-IN" sz="1600" dirty="0"/>
              <a:t>Gaussian Naive Bayes)</a:t>
            </a:r>
            <a:endParaRPr lang="en-US" sz="1600" b="1" dirty="0"/>
          </a:p>
          <a:p>
            <a:r>
              <a:rPr lang="en-US" sz="1600" dirty="0"/>
              <a:t>We want to </a:t>
            </a:r>
            <a:r>
              <a:rPr lang="en-US" sz="1600" b="1" dirty="0"/>
              <a:t>predict whether a student Passes or Fails</a:t>
            </a:r>
            <a:r>
              <a:rPr lang="en-US" sz="1600" dirty="0"/>
              <a:t> based on their </a:t>
            </a:r>
            <a:r>
              <a:rPr lang="en-US" sz="1600" b="1" dirty="0"/>
              <a:t>marks</a:t>
            </a:r>
            <a:r>
              <a:rPr lang="en-US" sz="1600" dirty="0"/>
              <a:t> using </a:t>
            </a:r>
            <a:r>
              <a:rPr lang="en-US" sz="1600" b="1" dirty="0"/>
              <a:t>Gaussian Naive Bayes</a:t>
            </a:r>
            <a:r>
              <a:rPr lang="en-US" sz="1600" dirty="0"/>
              <a:t>.</a:t>
            </a:r>
          </a:p>
          <a:p>
            <a:r>
              <a:rPr lang="en-IN" sz="1600" dirty="0"/>
              <a:t>Given Training Statistics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  <a:p>
            <a:endParaRPr lang="en-US" sz="1600" b="1" dirty="0"/>
          </a:p>
          <a:p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667B8E-1CAB-8C98-E796-19246796B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0791"/>
              </p:ext>
            </p:extLst>
          </p:nvPr>
        </p:nvGraphicFramePr>
        <p:xfrm>
          <a:off x="1551432" y="2295445"/>
          <a:ext cx="5032692" cy="131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7564">
                  <a:extLst>
                    <a:ext uri="{9D8B030D-6E8A-4147-A177-3AD203B41FA5}">
                      <a16:colId xmlns:a16="http://schemas.microsoft.com/office/drawing/2014/main" val="3223159712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3815382493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621098035"/>
                    </a:ext>
                  </a:extLst>
                </a:gridCol>
              </a:tblGrid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Standard Deviation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σ)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227664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596526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39860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2022C-4994-E4C7-665D-7BBE0311A858}"/>
                  </a:ext>
                </a:extLst>
              </p:cNvPr>
              <p:cNvSpPr txBox="1"/>
              <p:nvPr/>
            </p:nvSpPr>
            <p:spPr>
              <a:xfrm>
                <a:off x="1542796" y="4701238"/>
                <a:ext cx="4541520" cy="1475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1: Gaussian Probability Density Function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Gaussian Naive Bayes assumes: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sSup>
                                        <m:sSupPr>
                                          <m:ctrlPr>
                                            <a:rPr lang="ar-AE" sz="16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sz="16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sz="16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 sz="16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2022C-4994-E4C7-665D-7BBE0311A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796" y="4701238"/>
                <a:ext cx="4541520" cy="1475725"/>
              </a:xfrm>
              <a:prstGeom prst="rect">
                <a:avLst/>
              </a:prstGeom>
              <a:blipFill>
                <a:blip r:embed="rId2"/>
                <a:stretch>
                  <a:fillRect l="-671" t="-1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080B4C-FD52-87D9-1775-39BC53AED720}"/>
                  </a:ext>
                </a:extLst>
              </p:cNvPr>
              <p:cNvSpPr txBox="1"/>
              <p:nvPr/>
            </p:nvSpPr>
            <p:spPr>
              <a:xfrm>
                <a:off x="6724396" y="1577873"/>
                <a:ext cx="5032692" cy="4655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2: Likelihood for PASS Class</a:t>
                </a: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Substitute Values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𝑷𝒂𝒔𝒔</m:t>
                          </m:r>
                        </m:sub>
                      </m:sSub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𝑷𝒂𝒔𝒔</m:t>
                          </m:r>
                        </m:sub>
                      </m:sSub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𝟔𝟓</m:t>
                      </m:r>
                    </m:oMath>
                  </m:oMathPara>
                </a14:m>
                <a:endParaRPr lang="en-US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Exponent Term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endChr m:val="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70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</m:sup>
                      </m:sSup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8825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Normalization Term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07</m:t>
                      </m:r>
                    </m:oMath>
                  </m:oMathPara>
                </a14:m>
                <a:endParaRPr lang="en-US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Final Likelihood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𝑃𝑎𝑠𝑠</m:t>
                          </m:r>
                        </m:e>
                      </m:d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07</m:t>
                          </m:r>
                        </m:den>
                      </m:f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8825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0352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 marL="0" indent="0">
                  <a:buNone/>
                </a:pPr>
                <a:endParaRPr lang="ar-AE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080B4C-FD52-87D9-1775-39BC53AE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396" y="1577873"/>
                <a:ext cx="5032692" cy="4655633"/>
              </a:xfrm>
              <a:prstGeom prst="rect">
                <a:avLst/>
              </a:prstGeom>
              <a:blipFill>
                <a:blip r:embed="rId3"/>
                <a:stretch>
                  <a:fillRect l="-605" t="-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509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4776-0FC2-A2C5-BD0F-04466726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B2D1-1D03-A0AD-99CC-AA075127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57199-0162-C1F8-2E2A-EEF918F5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9B154-B033-5D88-1DEC-012FFD502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5672328" cy="5496243"/>
          </a:xfrm>
        </p:spPr>
        <p:txBody>
          <a:bodyPr>
            <a:noAutofit/>
          </a:bodyPr>
          <a:lstStyle/>
          <a:p>
            <a:r>
              <a:rPr lang="en-US" sz="1600" b="1" dirty="0"/>
              <a:t>Problem Statement (</a:t>
            </a:r>
            <a:r>
              <a:rPr lang="en-IN" sz="1600" dirty="0"/>
              <a:t>Gaussian Naive Bayes)</a:t>
            </a:r>
            <a:endParaRPr lang="en-US" sz="1600" b="1" dirty="0"/>
          </a:p>
          <a:p>
            <a:r>
              <a:rPr lang="en-US" sz="1600" dirty="0"/>
              <a:t>We want to </a:t>
            </a:r>
            <a:r>
              <a:rPr lang="en-US" sz="1600" b="1" dirty="0"/>
              <a:t>predict whether a student Passes or Fails</a:t>
            </a:r>
            <a:r>
              <a:rPr lang="en-US" sz="1600" dirty="0"/>
              <a:t> based on their </a:t>
            </a:r>
            <a:r>
              <a:rPr lang="en-US" sz="1600" b="1" dirty="0"/>
              <a:t>marks</a:t>
            </a:r>
            <a:r>
              <a:rPr lang="en-US" sz="1600" dirty="0"/>
              <a:t> using </a:t>
            </a:r>
            <a:r>
              <a:rPr lang="en-US" sz="1600" b="1" dirty="0"/>
              <a:t>Gaussian Naive Bayes</a:t>
            </a:r>
            <a:r>
              <a:rPr lang="en-US" sz="1600" dirty="0"/>
              <a:t>.</a:t>
            </a:r>
          </a:p>
          <a:p>
            <a:r>
              <a:rPr lang="en-IN" sz="1600" dirty="0"/>
              <a:t>Given Training Statistics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  <a:p>
            <a:endParaRPr lang="en-US" sz="1600" b="1" dirty="0"/>
          </a:p>
          <a:p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DE4358-18A5-8ECA-7C1F-81AF157DE037}"/>
              </a:ext>
            </a:extLst>
          </p:cNvPr>
          <p:cNvGraphicFramePr>
            <a:graphicFrameLocks noGrp="1"/>
          </p:cNvGraphicFramePr>
          <p:nvPr/>
        </p:nvGraphicFramePr>
        <p:xfrm>
          <a:off x="1551432" y="2295445"/>
          <a:ext cx="5032692" cy="131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7564">
                  <a:extLst>
                    <a:ext uri="{9D8B030D-6E8A-4147-A177-3AD203B41FA5}">
                      <a16:colId xmlns:a16="http://schemas.microsoft.com/office/drawing/2014/main" val="3223159712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3815382493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621098035"/>
                    </a:ext>
                  </a:extLst>
                </a:gridCol>
              </a:tblGrid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Standard Deviation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σ)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227664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596526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39860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C044E-55FD-831F-AC65-EA7E49307EBD}"/>
                  </a:ext>
                </a:extLst>
              </p:cNvPr>
              <p:cNvSpPr txBox="1"/>
              <p:nvPr/>
            </p:nvSpPr>
            <p:spPr>
              <a:xfrm>
                <a:off x="1542796" y="4701238"/>
                <a:ext cx="4541520" cy="1475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1: Gaussian Probability Density Function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Gaussian Naive Bayes assumes: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sSup>
                                        <m:sSupPr>
                                          <m:ctrlPr>
                                            <a:rPr lang="ar-AE" sz="16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sz="16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sz="1600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 sz="16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C044E-55FD-831F-AC65-EA7E49307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796" y="4701238"/>
                <a:ext cx="4541520" cy="1475725"/>
              </a:xfrm>
              <a:prstGeom prst="rect">
                <a:avLst/>
              </a:prstGeom>
              <a:blipFill>
                <a:blip r:embed="rId2"/>
                <a:stretch>
                  <a:fillRect l="-671" t="-1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9C40FA-8AC0-9998-1A2B-789D438FC68F}"/>
                  </a:ext>
                </a:extLst>
              </p:cNvPr>
              <p:cNvSpPr txBox="1"/>
              <p:nvPr/>
            </p:nvSpPr>
            <p:spPr>
              <a:xfrm>
                <a:off x="6724396" y="1577873"/>
                <a:ext cx="5032692" cy="4899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3: Likelihood for FAIL Class</a:t>
                </a: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Substitute Values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𝑭𝒂𝒊𝒍</m:t>
                          </m:r>
                        </m:sub>
                      </m:sSub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𝑭𝒂𝒊𝒍</m:t>
                          </m:r>
                        </m:sub>
                      </m:sSub>
                      <m:r>
                        <a:rPr lang="ar-AE" sz="16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ar-AE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br>
                  <a:rPr lang="ar-AE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</a:b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Exponent Term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endChr m:val="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625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128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128</m:t>
                          </m:r>
                        </m:den>
                      </m:f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88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88</m:t>
                          </m:r>
                        </m:sup>
                      </m:sSup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0076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Normalization Term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e>
                      </m:rad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br>
                  <a:rPr lang="ar-AE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</a:br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Final Likelihood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𝐹𝑎𝑖𝑙</m:t>
                          </m:r>
                        </m:e>
                      </m:d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</m:den>
                      </m:f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0076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00038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 marL="0" indent="0">
                  <a:buNone/>
                </a:pPr>
                <a:endParaRPr lang="ar-AE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9C40FA-8AC0-9998-1A2B-789D438FC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396" y="1577873"/>
                <a:ext cx="5032692" cy="4899033"/>
              </a:xfrm>
              <a:prstGeom prst="rect">
                <a:avLst/>
              </a:prstGeom>
              <a:blipFill>
                <a:blip r:embed="rId3"/>
                <a:stretch>
                  <a:fillRect l="-605" t="-3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519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C2E43-69AE-202F-BA0B-A8A9D9FD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6507-1D1E-2B96-3D1E-422E5404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F464D-CF21-9983-C04A-A80CA59E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03698-A762-1058-ABE2-2D404BFB6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5672328" cy="5496243"/>
          </a:xfrm>
        </p:spPr>
        <p:txBody>
          <a:bodyPr>
            <a:noAutofit/>
          </a:bodyPr>
          <a:lstStyle/>
          <a:p>
            <a:r>
              <a:rPr lang="en-US" sz="1600" b="1" dirty="0"/>
              <a:t>Problem Statement (</a:t>
            </a:r>
            <a:r>
              <a:rPr lang="en-IN" sz="1600" dirty="0"/>
              <a:t>Gaussian Naive Bayes)</a:t>
            </a:r>
            <a:endParaRPr lang="en-US" sz="1600" b="1" dirty="0"/>
          </a:p>
          <a:p>
            <a:r>
              <a:rPr lang="en-US" sz="1600" dirty="0"/>
              <a:t>We want to </a:t>
            </a:r>
            <a:r>
              <a:rPr lang="en-US" sz="1600" b="1" dirty="0"/>
              <a:t>predict whether a student Passes or Fails</a:t>
            </a:r>
            <a:r>
              <a:rPr lang="en-US" sz="1600" dirty="0"/>
              <a:t> based on their </a:t>
            </a:r>
            <a:r>
              <a:rPr lang="en-US" sz="1600" b="1" dirty="0"/>
              <a:t>marks</a:t>
            </a:r>
            <a:r>
              <a:rPr lang="en-US" sz="1600" dirty="0"/>
              <a:t> using </a:t>
            </a:r>
            <a:r>
              <a:rPr lang="en-US" sz="1600" b="1" dirty="0"/>
              <a:t>Gaussian Naive Bayes</a:t>
            </a:r>
            <a:r>
              <a:rPr lang="en-US" sz="1600" dirty="0"/>
              <a:t>.</a:t>
            </a:r>
          </a:p>
          <a:p>
            <a:r>
              <a:rPr lang="en-IN" sz="1600" dirty="0"/>
              <a:t>Given Training Statistics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  <a:p>
            <a:endParaRPr lang="en-US" sz="1600" b="1" dirty="0"/>
          </a:p>
          <a:p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792D66-D3A4-27C4-7C0A-1A0319FBB6D7}"/>
              </a:ext>
            </a:extLst>
          </p:cNvPr>
          <p:cNvGraphicFramePr>
            <a:graphicFrameLocks noGrp="1"/>
          </p:cNvGraphicFramePr>
          <p:nvPr/>
        </p:nvGraphicFramePr>
        <p:xfrm>
          <a:off x="1551432" y="2295445"/>
          <a:ext cx="5032692" cy="1310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7564">
                  <a:extLst>
                    <a:ext uri="{9D8B030D-6E8A-4147-A177-3AD203B41FA5}">
                      <a16:colId xmlns:a16="http://schemas.microsoft.com/office/drawing/2014/main" val="3223159712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3815382493"/>
                    </a:ext>
                  </a:extLst>
                </a:gridCol>
                <a:gridCol w="1677564">
                  <a:extLst>
                    <a:ext uri="{9D8B030D-6E8A-4147-A177-3AD203B41FA5}">
                      <a16:colId xmlns:a16="http://schemas.microsoft.com/office/drawing/2014/main" val="621098035"/>
                    </a:ext>
                  </a:extLst>
                </a:gridCol>
              </a:tblGrid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Standard Deviation (</a:t>
                      </a:r>
                      <a:r>
                        <a:rPr lang="el-GR" sz="1600" b="1" dirty="0">
                          <a:solidFill>
                            <a:srgbClr val="002060"/>
                          </a:solidFill>
                        </a:rPr>
                        <a:t>σ)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227664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596526"/>
                  </a:ext>
                </a:extLst>
              </a:tr>
              <a:tr h="339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3986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BD5B5D-5231-90B0-C3BB-7377094E0752}"/>
              </a:ext>
            </a:extLst>
          </p:cNvPr>
          <p:cNvSpPr txBox="1"/>
          <p:nvPr/>
        </p:nvSpPr>
        <p:spPr>
          <a:xfrm>
            <a:off x="1727200" y="378547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 4: Compare Likelihoods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122E4E-FEDA-B719-2907-2B900811F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320125"/>
              </p:ext>
            </p:extLst>
          </p:nvPr>
        </p:nvGraphicFramePr>
        <p:xfrm>
          <a:off x="1727200" y="4142254"/>
          <a:ext cx="5235892" cy="11599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17946">
                  <a:extLst>
                    <a:ext uri="{9D8B030D-6E8A-4147-A177-3AD203B41FA5}">
                      <a16:colId xmlns:a16="http://schemas.microsoft.com/office/drawing/2014/main" val="428573045"/>
                    </a:ext>
                  </a:extLst>
                </a:gridCol>
                <a:gridCol w="2617946">
                  <a:extLst>
                    <a:ext uri="{9D8B030D-6E8A-4147-A177-3AD203B41FA5}">
                      <a16:colId xmlns:a16="http://schemas.microsoft.com/office/drawing/2014/main" val="3082451708"/>
                    </a:ext>
                  </a:extLst>
                </a:gridCol>
              </a:tblGrid>
              <a:tr h="386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Likelihood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698497"/>
                  </a:ext>
                </a:extLst>
              </a:tr>
              <a:tr h="386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0.0352</a:t>
                      </a:r>
                      <a:endParaRPr lang="en-IN" sz="1600">
                        <a:solidFill>
                          <a:srgbClr val="00206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771468"/>
                  </a:ext>
                </a:extLst>
              </a:tr>
              <a:tr h="386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0.00038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4915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BAE22EE-5590-3713-DEC8-740B0342F60A}"/>
              </a:ext>
            </a:extLst>
          </p:cNvPr>
          <p:cNvSpPr txBox="1"/>
          <p:nvPr/>
        </p:nvSpPr>
        <p:spPr>
          <a:xfrm>
            <a:off x="2424684" y="5554220"/>
            <a:ext cx="4538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P(65∣Pass)≫P(65∣Fail)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98858E-C112-E994-CE3E-6615463118CA}"/>
                  </a:ext>
                </a:extLst>
              </p:cNvPr>
              <p:cNvSpPr txBox="1"/>
              <p:nvPr/>
            </p:nvSpPr>
            <p:spPr>
              <a:xfrm>
                <a:off x="7559040" y="1592092"/>
                <a:ext cx="430130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5: Final Prediction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Since priors are equal: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𝑷𝒂𝒔𝒔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𝟔𝟓</m:t>
                          </m:r>
                        </m:e>
                      </m:d>
                      <m:r>
                        <a:rPr lang="ar-AE" sz="16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 sz="16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𝑭𝒂𝒊𝒍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𝟔𝟓</m:t>
                          </m:r>
                        </m:e>
                      </m:d>
                    </m:oMath>
                  </m:oMathPara>
                </a14:m>
                <a:endParaRPr lang="ar-AE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Predicted Class: PASS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98858E-C112-E994-CE3E-661546311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040" y="1592092"/>
                <a:ext cx="4301300" cy="1077218"/>
              </a:xfrm>
              <a:prstGeom prst="rect">
                <a:avLst/>
              </a:prstGeom>
              <a:blipFill>
                <a:blip r:embed="rId2"/>
                <a:stretch>
                  <a:fillRect l="-708" t="-1695" b="-62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">
            <a:extLst>
              <a:ext uri="{FF2B5EF4-FFF2-40B4-BE49-F238E27FC236}">
                <a16:creationId xmlns:a16="http://schemas.microsoft.com/office/drawing/2014/main" id="{5952A394-6A3F-758D-7D5C-5D68EE7538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34340" y="3937417"/>
            <a:ext cx="44363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65 is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close to the Pass mean (70)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65 is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very far from the Fail mean (40)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Gaussian curve assigns: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High probability near the mean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Very low probability far from the mean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rgbClr val="002060"/>
              </a:solidFill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319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AAA5-1B2B-95BD-92FD-77D45A5A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675B-414F-7141-08B7-920A1360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3812C-01F1-F287-61B3-946D8E46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9EA86B7-09D6-654E-F678-F2BC6F5A2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160256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Handling Zero Probability – Laplace Smoothing (Add-One Smoothing)</a:t>
                </a:r>
                <a:endParaRPr lang="en-IN" sz="1600" dirty="0"/>
              </a:p>
              <a:p>
                <a:pPr marL="0" indent="0">
                  <a:buNone/>
                </a:pPr>
                <a:r>
                  <a:rPr lang="en-IN" sz="1600" b="1" dirty="0"/>
                  <a:t>1. The Zero Probability Problem (Why It Is Serious)</a:t>
                </a:r>
              </a:p>
              <a:p>
                <a:r>
                  <a:rPr lang="en-IN" sz="1600" dirty="0"/>
                  <a:t>In Naive Bayes, we compute: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𝑪</m:t>
                          </m:r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𝑿</m:t>
                          </m:r>
                        </m:e>
                      </m:d>
                      <m:r>
                        <a:rPr lang="ar-AE" sz="1600" b="1"/>
                        <m:t>∝</m:t>
                      </m:r>
                      <m:r>
                        <a:rPr lang="ar-AE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a:rPr lang="ar-AE" sz="1600" b="1" i="1"/>
                            <m:t>𝑪</m:t>
                          </m:r>
                        </m:e>
                      </m:d>
                      <m:nary>
                        <m:naryPr>
                          <m:chr m:val="∏"/>
                          <m:grow m:val="on"/>
                          <m:supHide m:val="on"/>
                          <m:ctrlPr>
                            <a:rPr lang="ar-AE" sz="1600" b="1" i="1"/>
                          </m:ctrlPr>
                        </m:naryPr>
                        <m:sub>
                          <m:r>
                            <a:rPr lang="ar-AE" sz="1600" b="1" i="1"/>
                            <m:t>𝒊</m:t>
                          </m:r>
                        </m:sub>
                        <m:sup/>
                        <m:e>
                          <m:r>
                            <a:rPr lang="ar-AE" sz="1600" b="1" i="1"/>
                            <m:t>𝑷</m:t>
                          </m:r>
                        </m:e>
                      </m:nary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𝒊</m:t>
                              </m:r>
                            </m:sub>
                          </m:sSub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𝑪</m:t>
                          </m:r>
                        </m:e>
                      </m:d>
                    </m:oMath>
                  </m:oMathPara>
                </a14:m>
                <a:endParaRPr lang="ar-AE" sz="1600" b="1" dirty="0"/>
              </a:p>
              <a:p>
                <a:r>
                  <a:rPr lang="en-IN" sz="1600" dirty="0"/>
                  <a:t>This means:</a:t>
                </a:r>
              </a:p>
              <a:p>
                <a:r>
                  <a:rPr lang="en-IN" sz="1600" dirty="0"/>
                  <a:t>We </a:t>
                </a:r>
                <a:r>
                  <a:rPr lang="en-IN" sz="1600" b="1" dirty="0"/>
                  <a:t>multiply probabilities</a:t>
                </a:r>
                <a:r>
                  <a:rPr lang="en-IN" sz="1600" dirty="0"/>
                  <a:t> of all features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What Goes Wrong?</a:t>
                </a:r>
              </a:p>
              <a:p>
                <a:r>
                  <a:rPr lang="en-IN" sz="1600" dirty="0"/>
                  <a:t>If </a:t>
                </a:r>
                <a:r>
                  <a:rPr lang="en-IN" sz="1600" b="1" dirty="0"/>
                  <a:t>any one feature</a:t>
                </a:r>
                <a:r>
                  <a:rPr lang="en-IN" sz="1600" dirty="0"/>
                  <a:t> has: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/>
                              </m:ctrlPr>
                            </m:sSubPr>
                            <m:e>
                              <m:r>
                                <a:rPr lang="ar-AE" sz="1600" b="1" i="1"/>
                                <m:t>𝑿</m:t>
                              </m:r>
                            </m:e>
                            <m:sub>
                              <m:r>
                                <a:rPr lang="ar-AE" sz="1600" b="1" i="1"/>
                                <m:t>𝒊</m:t>
                              </m:r>
                            </m:sub>
                          </m:sSub>
                          <m:r>
                            <a:rPr lang="ar-AE" sz="1600" b="1"/>
                            <m:t>∣</m:t>
                          </m:r>
                          <m:r>
                            <a:rPr lang="ar-AE" sz="1600" b="1" i="1"/>
                            <m:t>𝑪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r>
                        <a:rPr lang="ar-AE" sz="1600" b="1" i="1"/>
                        <m:t>𝟎</m:t>
                      </m:r>
                    </m:oMath>
                  </m:oMathPara>
                </a14:m>
                <a:endParaRPr lang="ar-AE" sz="1600" b="1" dirty="0"/>
              </a:p>
              <a:p>
                <a:r>
                  <a:rPr lang="en-IN" sz="1600" dirty="0"/>
                  <a:t>Then: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b="0"/>
                      <m:t>Entire</m:t>
                    </m:r>
                    <m:r>
                      <m:rPr>
                        <m:nor/>
                      </m:rPr>
                      <a:rPr lang="en-IN" sz="1600" b="0" i="1"/>
                      <m:t> </m:t>
                    </m:r>
                    <m:r>
                      <m:rPr>
                        <m:nor/>
                      </m:rPr>
                      <a:rPr lang="en-IN" sz="1600" b="0" i="1"/>
                      <m:t>product</m:t>
                    </m:r>
                    <m:r>
                      <a:rPr lang="en-IN" sz="1600"/>
                      <m:t>=</m:t>
                    </m:r>
                    <m:r>
                      <a:rPr lang="en-IN" sz="1600"/>
                      <m:t>0</m:t>
                    </m:r>
                  </m:oMath>
                </a14:m>
                <a:endParaRPr lang="en-IN" sz="1600" b="0" dirty="0"/>
              </a:p>
              <a:p>
                <a:r>
                  <a:rPr lang="en-IN" sz="1600" dirty="0"/>
                  <a:t>Even if all other features strongly support the class</a:t>
                </a:r>
                <a:br>
                  <a:rPr lang="en-IN" sz="1600" dirty="0"/>
                </a:br>
                <a:r>
                  <a:rPr lang="en-IN" sz="1600" dirty="0"/>
                  <a:t>Model </a:t>
                </a:r>
                <a:r>
                  <a:rPr lang="en-IN" sz="1600" b="1" dirty="0"/>
                  <a:t>completely rejects</a:t>
                </a:r>
                <a:r>
                  <a:rPr lang="en-IN" sz="1600" dirty="0"/>
                  <a:t> that class</a:t>
                </a:r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b="1" dirty="0"/>
              </a:p>
              <a:p>
                <a:endParaRPr lang="en-US" sz="1600" b="1" dirty="0"/>
              </a:p>
              <a:p>
                <a:endParaRPr lang="en-US" sz="1600" dirty="0"/>
              </a:p>
              <a:p>
                <a:pPr marL="0" indent="0">
                  <a:buNone/>
                </a:pPr>
                <a:br>
                  <a:rPr lang="en-US" sz="1600" dirty="0"/>
                </a:br>
                <a:endParaRPr lang="en-US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9EA86B7-09D6-654E-F678-F2BC6F5A2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160256" cy="5496243"/>
              </a:xfrm>
              <a:blipFill>
                <a:blip r:embed="rId2"/>
                <a:stretch>
                  <a:fillRect l="-399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599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BBFC2-1D13-B20B-2BAD-BF35C6C7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B925-A580-9844-3907-84BC4D66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4B9B4-EDCE-E923-E3DF-F894CB64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E97D200-5178-A6FD-68CC-E16F2DA207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6495288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800" dirty="0"/>
                  <a:t>Handling Zero Probability – Laplace Smoothing (Add-One Smoothing)</a:t>
                </a:r>
                <a:endParaRPr lang="en-IN" sz="1800" dirty="0"/>
              </a:p>
              <a:p>
                <a:endParaRPr lang="en-IN" sz="1800" dirty="0"/>
              </a:p>
              <a:p>
                <a:pPr marL="0" indent="0">
                  <a:buNone/>
                </a:pPr>
                <a:r>
                  <a:rPr lang="en-IN" sz="1800" b="1" dirty="0"/>
                  <a:t>2. Why Zero Probability Occurs</a:t>
                </a:r>
              </a:p>
              <a:p>
                <a:r>
                  <a:rPr lang="en-IN" sz="1800" dirty="0"/>
                  <a:t>Zero probability happens when:</a:t>
                </a:r>
              </a:p>
              <a:p>
                <a:r>
                  <a:rPr lang="en-IN" sz="1800" dirty="0"/>
                  <a:t>A word </a:t>
                </a:r>
                <a:r>
                  <a:rPr lang="en-IN" sz="1800" b="1" dirty="0"/>
                  <a:t>never appeared</a:t>
                </a:r>
                <a:r>
                  <a:rPr lang="en-IN" sz="1800" dirty="0"/>
                  <a:t> in training data for a class</a:t>
                </a:r>
              </a:p>
              <a:p>
                <a:pPr marL="0" indent="0">
                  <a:buNone/>
                </a:pPr>
                <a:r>
                  <a:rPr lang="en-IN" sz="1800" dirty="0"/>
                  <a:t>Example:</a:t>
                </a:r>
              </a:p>
              <a:p>
                <a:r>
                  <a:rPr lang="en-IN" sz="1800" dirty="0"/>
                  <a:t>Word “Lottery” never appeared in </a:t>
                </a:r>
                <a:r>
                  <a:rPr lang="en-IN" sz="1800" b="1" dirty="0"/>
                  <a:t>Ham emails</a:t>
                </a:r>
                <a:endParaRPr lang="en-IN" sz="1800" dirty="0"/>
              </a:p>
              <a:p>
                <a:r>
                  <a:rPr lang="en-IN" sz="1800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/>
                        <m:t>𝑷</m:t>
                      </m:r>
                      <m:d>
                        <m:dPr>
                          <m:ctrlPr>
                            <a:rPr lang="ar-AE" sz="1800" b="1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1800" b="1" i="1"/>
                            <m:t>Lottery</m:t>
                          </m:r>
                          <m:r>
                            <a:rPr lang="en-IN" sz="1800" b="1"/>
                            <m:t>∣</m:t>
                          </m:r>
                          <m:r>
                            <m:rPr>
                              <m:nor/>
                            </m:rPr>
                            <a:rPr lang="en-IN" sz="1800" b="1" i="1"/>
                            <m:t>Ham</m:t>
                          </m:r>
                        </m:e>
                      </m:d>
                      <m:r>
                        <a:rPr lang="ar-AE" sz="1800" b="1"/>
                        <m:t>=</m:t>
                      </m:r>
                      <m:r>
                        <a:rPr lang="ar-AE" sz="1800" b="1" i="1"/>
                        <m:t>𝟎</m:t>
                      </m:r>
                    </m:oMath>
                  </m:oMathPara>
                </a14:m>
                <a:endParaRPr lang="ar-AE" sz="1800" b="1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b="1" dirty="0"/>
              </a:p>
              <a:p>
                <a:endParaRPr lang="en-US" sz="1800" b="1" dirty="0"/>
              </a:p>
              <a:p>
                <a:endParaRPr lang="en-US" sz="1800" dirty="0"/>
              </a:p>
              <a:p>
                <a:pPr marL="0" indent="0">
                  <a:buNone/>
                </a:pPr>
                <a:br>
                  <a:rPr lang="en-US" sz="1800" dirty="0"/>
                </a:br>
                <a:endParaRPr lang="en-US" sz="1800" dirty="0"/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E97D200-5178-A6FD-68CC-E16F2DA207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6495288" cy="5496243"/>
              </a:xfrm>
              <a:blipFill>
                <a:blip r:embed="rId2"/>
                <a:stretch>
                  <a:fillRect l="-845" t="-11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199B4A5-0AD0-C34D-628E-4F43601B7C41}"/>
              </a:ext>
            </a:extLst>
          </p:cNvPr>
          <p:cNvSpPr txBox="1"/>
          <p:nvPr/>
        </p:nvSpPr>
        <p:spPr>
          <a:xfrm>
            <a:off x="4998720" y="424855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Just because a word </a:t>
            </a:r>
            <a:r>
              <a:rPr lang="en-US" b="1" dirty="0">
                <a:solidFill>
                  <a:srgbClr val="002060"/>
                </a:solidFill>
                <a:latin typeface="Montserrat" panose="00000500000000000000" pitchFamily="2" charset="0"/>
              </a:rPr>
              <a:t>never appeared before</a:t>
            </a: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, it does </a:t>
            </a:r>
            <a:r>
              <a:rPr lang="en-US" b="1" dirty="0">
                <a:solidFill>
                  <a:srgbClr val="002060"/>
                </a:solidFill>
                <a:latin typeface="Montserrat" panose="00000500000000000000" pitchFamily="2" charset="0"/>
              </a:rPr>
              <a:t>not mean it can never appear</a:t>
            </a: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Training data is limited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Language evolves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Rare events exist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➡ Zero probability is </a:t>
            </a:r>
            <a:r>
              <a:rPr lang="en-US" b="1" dirty="0">
                <a:solidFill>
                  <a:srgbClr val="002060"/>
                </a:solidFill>
                <a:latin typeface="Montserrat" panose="00000500000000000000" pitchFamily="2" charset="0"/>
              </a:rPr>
              <a:t>too harsh</a:t>
            </a:r>
            <a:r>
              <a:rPr lang="en-US" dirty="0">
                <a:solidFill>
                  <a:srgbClr val="002060"/>
                </a:solidFill>
                <a:latin typeface="Montserrat" panose="00000500000000000000" pitchFamily="2" charset="0"/>
              </a:rPr>
              <a:t> and unrealistic</a:t>
            </a:r>
          </a:p>
        </p:txBody>
      </p:sp>
    </p:spTree>
    <p:extLst>
      <p:ext uri="{BB962C8B-B14F-4D97-AF65-F5344CB8AC3E}">
        <p14:creationId xmlns:p14="http://schemas.microsoft.com/office/powerpoint/2010/main" val="388260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B1D0-79CE-6B6D-A85A-CC1F0C2E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5D35-43CF-7A01-727C-B1AEBA31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5AC80-98DC-1630-94CB-181CE051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282B1BF-1310-776B-E57D-1BF47B29E4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10782808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Handling Zero Probability – Laplace Smoothing (Add-One Smoothing)</a:t>
                </a:r>
                <a:endParaRPr lang="en-IN" sz="1600" dirty="0"/>
              </a:p>
              <a:p>
                <a:endParaRPr lang="en-IN" sz="1600" dirty="0"/>
              </a:p>
              <a:p>
                <a:pPr marL="0" indent="0">
                  <a:buNone/>
                </a:pPr>
                <a:r>
                  <a:rPr lang="en-IN" sz="1600" b="1" dirty="0"/>
                  <a:t>4. Laplace Smoothing – The Solution</a:t>
                </a:r>
              </a:p>
              <a:p>
                <a:r>
                  <a:rPr lang="en-IN" sz="1600" dirty="0"/>
                  <a:t>Laplace smoothing </a:t>
                </a:r>
                <a:r>
                  <a:rPr lang="en-IN" sz="1600" b="1" dirty="0"/>
                  <a:t>adds 1</a:t>
                </a:r>
                <a:r>
                  <a:rPr lang="en-IN" sz="1600" dirty="0"/>
                  <a:t> to every count to avoid zeros.</a:t>
                </a:r>
              </a:p>
              <a:p>
                <a:r>
                  <a:rPr lang="en-IN" sz="1600" b="1" dirty="0"/>
                  <a:t>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/>
                        <m:t>𝑷</m:t>
                      </m:r>
                      <m:d>
                        <m:dPr>
                          <m:ctrlPr>
                            <a:rPr lang="ar-AE" sz="1600" b="1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1600" b="1" i="1"/>
                            <m:t>word</m:t>
                          </m:r>
                          <m:r>
                            <a:rPr lang="en-IN" sz="1600" b="1"/>
                            <m:t>∣</m:t>
                          </m:r>
                          <m:r>
                            <a:rPr lang="en-IN" sz="1600" b="1" i="1"/>
                            <m:t>𝑪</m:t>
                          </m:r>
                        </m:e>
                      </m:d>
                      <m:r>
                        <a:rPr lang="ar-AE" sz="1600" b="1"/>
                        <m:t>=</m:t>
                      </m:r>
                      <m:f>
                        <m:fPr>
                          <m:ctrlPr>
                            <a:rPr lang="ar-AE" sz="1600" b="1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1600" b="1" i="1"/>
                            <m:t>count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(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word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, 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C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)</m:t>
                          </m:r>
                          <m:r>
                            <a:rPr lang="en-IN" sz="1600" b="1"/>
                            <m:t>+</m:t>
                          </m:r>
                          <m:r>
                            <a:rPr lang="en-IN" sz="1600" b="1" i="1"/>
                            <m:t>𝟏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1600" b="1" i="1"/>
                            <m:t>total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words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in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 </m:t>
                          </m:r>
                          <m:r>
                            <a:rPr lang="en-IN" sz="1600" b="1" i="1"/>
                            <m:t>𝑪</m:t>
                          </m:r>
                          <m:r>
                            <a:rPr lang="en-IN" sz="1600" b="1"/>
                            <m:t>+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vocabulary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1600" b="1" i="1"/>
                            <m:t>size</m:t>
                          </m:r>
                        </m:den>
                      </m:f>
                    </m:oMath>
                  </m:oMathPara>
                </a14:m>
                <a:endParaRPr lang="ar-AE" sz="1600" b="1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b="1" dirty="0"/>
              </a:p>
              <a:p>
                <a:endParaRPr lang="en-US" sz="1600" b="1" dirty="0"/>
              </a:p>
              <a:p>
                <a:endParaRPr lang="en-US" sz="1600" dirty="0"/>
              </a:p>
              <a:p>
                <a:pPr marL="0" indent="0">
                  <a:buNone/>
                </a:pPr>
                <a:br>
                  <a:rPr lang="en-US" sz="1600" dirty="0"/>
                </a:br>
                <a:endParaRPr lang="en-US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282B1BF-1310-776B-E57D-1BF47B29E4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10782808" cy="5496243"/>
              </a:xfrm>
              <a:blipFill>
                <a:blip r:embed="rId2"/>
                <a:stretch>
                  <a:fillRect l="-339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84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410B-351B-3AE6-A647-D75EA57D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9606-0A28-AEAB-6BE2-EEA2B78A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CAA8-5385-61FB-7D54-0CE219F1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7EA3BD5-F1E2-BB25-742F-08071E3196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60400"/>
                <a:ext cx="10782808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800" b="1" dirty="0"/>
                  <a:t>Example </a:t>
                </a:r>
              </a:p>
              <a:p>
                <a:r>
                  <a:rPr lang="en-US" sz="1800" b="1" dirty="0"/>
                  <a:t>Training Data</a:t>
                </a:r>
              </a:p>
              <a:p>
                <a:r>
                  <a:rPr lang="en-US" sz="1800" dirty="0"/>
                  <a:t>Spam emails:</a:t>
                </a:r>
              </a:p>
              <a:p>
                <a:pPr lvl="1"/>
                <a:r>
                  <a:rPr lang="en-US" sz="1800" dirty="0"/>
                  <a:t>Total words = 100</a:t>
                </a:r>
              </a:p>
              <a:p>
                <a:pPr lvl="1"/>
                <a:r>
                  <a:rPr lang="en-US" sz="1800" dirty="0"/>
                  <a:t>Vocabulary size = 20</a:t>
                </a:r>
              </a:p>
              <a:p>
                <a:r>
                  <a:rPr lang="en-US" sz="1800" dirty="0"/>
                  <a:t>Word “Free” appears:</a:t>
                </a:r>
              </a:p>
              <a:p>
                <a:pPr lvl="1"/>
                <a:r>
                  <a:rPr lang="en-US" sz="1800" dirty="0"/>
                  <a:t>5 times in Spam</a:t>
                </a:r>
              </a:p>
              <a:p>
                <a:r>
                  <a:rPr lang="en-US" sz="1800" dirty="0"/>
                  <a:t>Word “Lottery” appears:</a:t>
                </a:r>
              </a:p>
              <a:p>
                <a:pPr lvl="1"/>
                <a:r>
                  <a:rPr lang="en-US" sz="1800" dirty="0"/>
                  <a:t>0 times in Spam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Without Laplace Smoothing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/>
                        <m:t>𝑃</m:t>
                      </m:r>
                      <m:d>
                        <m:dPr>
                          <m:ctrlPr>
                            <a:rPr lang="ar-AE" sz="1800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1800" i="1"/>
                            <m:t>Lottery</m:t>
                          </m:r>
                          <m:r>
                            <m:rPr>
                              <m:nor/>
                            </m:rPr>
                            <a:rPr lang="en-IN" sz="1800" i="1"/>
                            <m:t>|</m:t>
                          </m:r>
                          <m:r>
                            <m:rPr>
                              <m:nor/>
                            </m:rPr>
                            <a:rPr lang="en-IN" sz="1800" i="1"/>
                            <m:t>Spam</m:t>
                          </m:r>
                        </m:e>
                      </m:d>
                      <m:r>
                        <a:rPr lang="ar-AE" sz="1800"/>
                        <m:t>=</m:t>
                      </m:r>
                      <m:f>
                        <m:fPr>
                          <m:ctrlPr>
                            <a:rPr lang="ar-AE" sz="1800" i="1"/>
                          </m:ctrlPr>
                        </m:fPr>
                        <m:num>
                          <m:r>
                            <a:rPr lang="ar-AE" sz="1800"/>
                            <m:t>0</m:t>
                          </m:r>
                        </m:num>
                        <m:den>
                          <m:r>
                            <a:rPr lang="ar-AE" sz="1800"/>
                            <m:t>100</m:t>
                          </m:r>
                        </m:den>
                      </m:f>
                      <m:r>
                        <a:rPr lang="ar-AE" sz="1800"/>
                        <m:t>=</m:t>
                      </m:r>
                      <m:r>
                        <a:rPr lang="ar-AE" sz="1800"/>
                        <m:t>0</m:t>
                      </m:r>
                    </m:oMath>
                  </m:oMathPara>
                </a14:m>
                <a:endParaRPr lang="ar-AE" sz="1800" b="0" dirty="0"/>
              </a:p>
              <a:p>
                <a:r>
                  <a:rPr lang="en-IN" sz="1800" dirty="0"/>
                  <a:t>Entire Spam probability becomes zero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With Laplace Smoothing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/>
                        <m:t>𝑃</m:t>
                      </m:r>
                      <m:d>
                        <m:dPr>
                          <m:ctrlPr>
                            <a:rPr lang="ar-AE" sz="1800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1800" i="1"/>
                            <m:t>Lottery</m:t>
                          </m:r>
                          <m:r>
                            <m:rPr>
                              <m:nor/>
                            </m:rPr>
                            <a:rPr lang="en-IN" sz="1800" i="1"/>
                            <m:t>|</m:t>
                          </m:r>
                          <m:r>
                            <m:rPr>
                              <m:nor/>
                            </m:rPr>
                            <a:rPr lang="en-IN" sz="1800" i="1"/>
                            <m:t>Spam</m:t>
                          </m:r>
                        </m:e>
                      </m:d>
                      <m:r>
                        <a:rPr lang="ar-AE" sz="1800"/>
                        <m:t>=</m:t>
                      </m:r>
                      <m:f>
                        <m:fPr>
                          <m:ctrlPr>
                            <a:rPr lang="ar-AE" sz="1800" i="1"/>
                          </m:ctrlPr>
                        </m:fPr>
                        <m:num>
                          <m:r>
                            <a:rPr lang="ar-AE" sz="1800"/>
                            <m:t>0</m:t>
                          </m:r>
                          <m:r>
                            <a:rPr lang="ar-AE" sz="1800"/>
                            <m:t>+</m:t>
                          </m:r>
                          <m:r>
                            <a:rPr lang="ar-AE" sz="1800"/>
                            <m:t>1</m:t>
                          </m:r>
                        </m:num>
                        <m:den>
                          <m:r>
                            <a:rPr lang="ar-AE" sz="1800"/>
                            <m:t>100</m:t>
                          </m:r>
                          <m:r>
                            <a:rPr lang="ar-AE" sz="1800"/>
                            <m:t>+</m:t>
                          </m:r>
                          <m:r>
                            <a:rPr lang="ar-AE" sz="1800"/>
                            <m:t>20</m:t>
                          </m:r>
                        </m:den>
                      </m:f>
                      <m:r>
                        <a:rPr lang="ar-AE" sz="1800"/>
                        <m:t>=</m:t>
                      </m:r>
                      <m:f>
                        <m:fPr>
                          <m:ctrlPr>
                            <a:rPr lang="ar-AE" sz="1800" i="1"/>
                          </m:ctrlPr>
                        </m:fPr>
                        <m:num>
                          <m:r>
                            <a:rPr lang="ar-AE" sz="1800"/>
                            <m:t>1</m:t>
                          </m:r>
                        </m:num>
                        <m:den>
                          <m:r>
                            <a:rPr lang="ar-AE" sz="1800"/>
                            <m:t>120</m:t>
                          </m:r>
                        </m:den>
                      </m:f>
                    </m:oMath>
                  </m:oMathPara>
                </a14:m>
                <a:endParaRPr lang="ar-AE" sz="1800" b="0" dirty="0"/>
              </a:p>
              <a:p>
                <a:r>
                  <a:rPr lang="en-IN" sz="1800" dirty="0"/>
                  <a:t>Probability is small but </a:t>
                </a:r>
                <a:r>
                  <a:rPr lang="en-IN" sz="1800" b="1" dirty="0"/>
                  <a:t>non-zero</a:t>
                </a:r>
                <a:br>
                  <a:rPr lang="en-IN" sz="1800" dirty="0"/>
                </a:br>
                <a:r>
                  <a:rPr lang="en-IN" sz="1800" dirty="0"/>
                  <a:t>Model remains stable</a:t>
                </a:r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b="1" dirty="0"/>
              </a:p>
              <a:p>
                <a:endParaRPr lang="en-US" sz="1800" b="1" dirty="0"/>
              </a:p>
              <a:p>
                <a:endParaRPr lang="en-US" sz="1800" dirty="0"/>
              </a:p>
              <a:p>
                <a:pPr marL="0" indent="0">
                  <a:buNone/>
                </a:pPr>
                <a:br>
                  <a:rPr lang="en-US" sz="1800" dirty="0"/>
                </a:br>
                <a:endParaRPr lang="en-US" sz="1800" dirty="0"/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7EA3BD5-F1E2-BB25-742F-08071E3196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60400"/>
                <a:ext cx="10782808" cy="5496243"/>
              </a:xfrm>
              <a:blipFill>
                <a:blip r:embed="rId2"/>
                <a:stretch>
                  <a:fillRect l="-509" t="-998" b="-64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2616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9815D0B54E64CA32C725DD98280A8" ma:contentTypeVersion="3" ma:contentTypeDescription="Create a new document." ma:contentTypeScope="" ma:versionID="65c91753758b50712711421e7e504f75">
  <xsd:schema xmlns:xsd="http://www.w3.org/2001/XMLSchema" xmlns:xs="http://www.w3.org/2001/XMLSchema" xmlns:p="http://schemas.microsoft.com/office/2006/metadata/properties" xmlns:ns2="a8a3157b-fb2d-4b99-9466-dd2af114b0cf" targetNamespace="http://schemas.microsoft.com/office/2006/metadata/properties" ma:root="true" ma:fieldsID="3edb1e30068ce62ef77278ad378a40a4" ns2:_="">
    <xsd:import namespace="a8a3157b-fb2d-4b99-9466-dd2af114b0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3157b-fb2d-4b99-9466-dd2af114b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041441-D08E-4A9A-BE32-D7225D50DEAF}"/>
</file>

<file path=customXml/itemProps2.xml><?xml version="1.0" encoding="utf-8"?>
<ds:datastoreItem xmlns:ds="http://schemas.openxmlformats.org/officeDocument/2006/customXml" ds:itemID="{0CAA22E3-ECC3-45DE-AC20-0754D8F513EC}"/>
</file>

<file path=customXml/itemProps3.xml><?xml version="1.0" encoding="utf-8"?>
<ds:datastoreItem xmlns:ds="http://schemas.openxmlformats.org/officeDocument/2006/customXml" ds:itemID="{8149612B-94B4-4291-B108-691D9FECFD61}"/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1839</Words>
  <Application>Microsoft Office PowerPoint</Application>
  <PresentationFormat>Widescreen</PresentationFormat>
  <Paragraphs>434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Montserrat</vt:lpstr>
      <vt:lpstr>Segoe UI</vt:lpstr>
      <vt:lpstr>1_Office Theme</vt:lpstr>
      <vt:lpstr>24ADI003-MACHINE LEARNING</vt:lpstr>
      <vt:lpstr>Course Objectives: </vt:lpstr>
      <vt:lpstr>Course Outcomes  </vt:lpstr>
      <vt:lpstr>Course Content</vt:lpstr>
      <vt:lpstr>Unit III – CLASSIFICATION MODELS 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  <vt:lpstr>NAIVE BAYES CLASSIFIER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 G</dc:creator>
  <cp:lastModifiedBy>Preethi G</cp:lastModifiedBy>
  <cp:revision>20</cp:revision>
  <dcterms:created xsi:type="dcterms:W3CDTF">2026-02-11T09:26:00Z</dcterms:created>
  <dcterms:modified xsi:type="dcterms:W3CDTF">2026-02-12T02:50:29Z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0x010100A959815D0B54E64CA32C725DD98280A8</vt:lpwstr>
  </property>
</Properties>
</file>