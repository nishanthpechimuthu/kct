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68" r:id="rId2"/>
    <p:sldId id="493" r:id="rId3"/>
    <p:sldId id="594" r:id="rId4"/>
    <p:sldId id="595" r:id="rId5"/>
    <p:sldId id="597" r:id="rId6"/>
    <p:sldId id="598" r:id="rId7"/>
    <p:sldId id="599" r:id="rId8"/>
    <p:sldId id="601" r:id="rId9"/>
    <p:sldId id="602" r:id="rId10"/>
    <p:sldId id="603" r:id="rId11"/>
    <p:sldId id="604" r:id="rId12"/>
    <p:sldId id="605" r:id="rId13"/>
    <p:sldId id="606" r:id="rId14"/>
    <p:sldId id="607" r:id="rId15"/>
    <p:sldId id="608" r:id="rId16"/>
    <p:sldId id="609" r:id="rId17"/>
    <p:sldId id="610" r:id="rId18"/>
    <p:sldId id="611" r:id="rId19"/>
    <p:sldId id="612" r:id="rId20"/>
    <p:sldId id="613" r:id="rId21"/>
    <p:sldId id="614" r:id="rId22"/>
    <p:sldId id="615" r:id="rId23"/>
    <p:sldId id="616" r:id="rId24"/>
    <p:sldId id="617" r:id="rId25"/>
    <p:sldId id="618" r:id="rId26"/>
    <p:sldId id="619" r:id="rId27"/>
    <p:sldId id="620" r:id="rId28"/>
    <p:sldId id="621" r:id="rId29"/>
    <p:sldId id="622" r:id="rId30"/>
    <p:sldId id="623" r:id="rId31"/>
    <p:sldId id="624" r:id="rId32"/>
    <p:sldId id="625" r:id="rId33"/>
    <p:sldId id="62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D9AF2-074F-42F3-A29D-32A569C1D56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D3638-34D8-4A11-A722-691CF54FF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1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372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23F4-449B-7158-1FC2-8C41C914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7885F-B225-F47F-1AB9-0C97E494D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9731D-A706-97A1-A7E8-FB6810589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6BFF0-6C26-8D1F-E89A-1039C5897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69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B2889-5625-06C4-87DA-90FAFAD6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522F3-2360-D2D4-0C51-E5DA500BF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7877A-8D3F-95F4-9FF0-C5E6C144A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2A761-E92D-54A6-68E6-90A293A47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795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FEC33-BAFD-4830-9A42-F1D8F37B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5D279-BA15-71E3-CBAE-23A6DF06A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5C0D9-F947-560B-DC8C-7A5D8A3D5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8EAB8-CC75-BDD4-0A57-86450329E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089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13A4-02B2-C044-C73E-9694DFA4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8CAA8-9A5D-545F-7B63-B3B52F5C4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D708C-AA88-2854-B435-C8CD41467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2A8AF-0EF6-DECE-208D-E75EB2D61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752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8CFC-D30B-9A6B-05B6-7809C863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BE447-DBD9-8CA9-B673-2E57D8516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3CCD8-03B4-E7F4-450B-58D8A7FD8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62314-0C1E-2AE9-AF2F-E685EC45C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33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B4BAC-5C62-6A48-74F7-5AC26A30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A3E60-A62B-DEEA-386E-0C33630BF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9BAA9-3E41-0570-6FB3-F9AA1D54E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0863B-39AB-AD26-7162-8F8929F88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410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CBCF6-BF31-7EAE-08EF-472502DE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B2FDA-9A0C-AB05-54A8-618F34D8E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76BA5-E7F8-6F60-5814-8F5E81588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1C264-E493-6A9B-877C-EA9A43DCF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271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4002-F5D4-650B-A708-5F0D2492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2E0CF-0516-C691-C30C-14790CE92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503A8-2A61-5BFA-EFE6-B2169EB41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593DA-E990-0649-AC17-1A15D88E3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38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E0A7-D8DE-7765-C942-DE8118C4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94DE8D-F1C7-05FC-2831-C201B634C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4D678-E008-ACDB-F50C-8BE36510E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5BDEC-DD2E-595C-1C77-7089911E6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94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AA21-F27C-9158-4F6C-CE0E48B0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D1694-576B-96D1-7139-C1257A4D6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F2013-21DB-E96D-8983-7AE9D559D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6A296-BD0E-AE69-8449-676CE312D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987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D4C0F-FFAA-6F46-DDE9-00E4B779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B1FFD-3700-6662-E9AA-22C5C1201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63F42-CCDD-3CAC-C2F3-25356D80D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D2E36-1CC1-7C23-2BC4-5A87CC1EB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50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E64B5-1AF0-3721-E27F-19627CD8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309B5-4BB1-E825-9DC5-659BD5C9F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A38EE-D907-4269-8CAE-8AF2D9F79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DC9F4-09D0-4BD0-D137-3E6F8A3D3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92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B15CB-08C2-B338-BB83-BB13572C3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1C395-55CE-A539-0C5C-6C62B9C74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66A42-FF94-07DB-FC9B-1AE7B7EDB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91720-8F5E-1E78-465D-C5390F0B3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76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C50B-5010-2238-B088-2DD31B77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14653-B07D-0723-8038-DB4151EA5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A4DBF-FC07-2FD8-BC02-E56DFCBFE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20ACD-A57F-3A69-C04E-AEC38D342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703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B5EB-A18A-3326-C875-7EF15D917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769D6-C61B-93D9-5272-FA3C2D1D2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AA2EF-9668-1143-6210-60CC175AB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E665C-0C8D-F6A1-C707-B29F1F8C0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959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E0C9-1EBB-88D0-6988-BF26649F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CDECF-F85B-6109-18E4-4A8CA034A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B0131-148A-8F30-6508-7EAADD28F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51179-6BFF-E732-B911-D806948F6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722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82D37-5052-A45C-C2A0-E79FC4F8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BAE5A-39BE-C77F-3DF7-D3D275C8B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7C872-FAA6-58C2-5BEA-53454C1E0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7867B-AEDF-620A-0E90-6F6ACD67F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600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595A2-43FD-63C2-5302-4F2BF025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BE668-C667-EC25-85BF-C3E340896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C3D9F-083A-9573-BF27-5C4184CC1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95DEE-E54E-DAE5-FBA7-2AF5C7091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113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52EE-E729-988B-FF69-6A06FAEF4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15EC7-571B-7DF2-5B7D-2DDEDC83B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A256A-579A-7463-899A-8C12E532B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0A9A6-75E8-B195-27BD-7F2F418A8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977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D4EC7-DE48-4FA4-87DD-D089A157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0F8FF-93BF-E35D-A180-F6BF1C0CE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B257C-A755-CA21-F69A-916707938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F0B69-A975-5508-A5B7-529D4A47B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45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C097-163D-B0C1-E7FF-6AD65469B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F75E8-595D-344A-9131-2CFC777EE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820F0-1B04-C8FC-93DA-321D4D015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3B1EE-924E-B014-AA51-BF6BBB054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638-34D8-4A11-A722-691CF54FF9EF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18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875399"/>
            <a:ext cx="5992368" cy="2387600"/>
          </a:xfrm>
        </p:spPr>
        <p:txBody>
          <a:bodyPr anchor="b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400" b="0" i="0" smtClean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>
                <a:effectLst/>
                <a:latin typeface="Segoe UI" panose="020B0502040204020203" pitchFamily="34" charset="0"/>
              </a:rPr>
              <a:t>Course Title, module title and topic of video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599" y="4355074"/>
            <a:ext cx="6436659" cy="1525773"/>
          </a:xfrm>
        </p:spPr>
        <p:txBody>
          <a:bodyPr/>
          <a:lstStyle>
            <a:lvl1pPr marL="0" indent="0" algn="l">
              <a:buNone/>
              <a:defRPr lang="en-US" b="0" i="0" smtClean="0">
                <a:solidFill>
                  <a:srgbClr val="00A994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b="0" i="0">
                <a:effectLst/>
                <a:latin typeface="Segoe UI" panose="020B0502040204020203" pitchFamily="34" charset="0"/>
              </a:rPr>
              <a:t>Faculty Name</a:t>
            </a:r>
          </a:p>
          <a:p>
            <a:r>
              <a:rPr lang="en-US" b="0" i="0">
                <a:effectLst/>
                <a:latin typeface="Segoe UI" panose="020B0502040204020203" pitchFamily="34" charset="0"/>
              </a:rPr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365805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6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9830054" cy="283483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9830054" cy="14907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5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89704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489704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55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2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4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8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1212" y="72224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1432" y="722249"/>
            <a:ext cx="5681472" cy="54499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1212" y="232244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5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8957" y="713105"/>
            <a:ext cx="37047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1432" y="713105"/>
            <a:ext cx="5910072" cy="54590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8957" y="2313305"/>
            <a:ext cx="370478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6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6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1EEE-AB63-4DA6-9F1F-5936DDA55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16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1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7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432" y="365125"/>
            <a:ext cx="87538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1432" y="1825625"/>
            <a:ext cx="98237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143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305C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21.12.2024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0588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305C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24ADI003_ML_PREETHIG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9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05C"/>
                </a:solidFill>
                <a:latin typeface="Montserrat" panose="00000500000000000000" pitchFamily="2" charset="0"/>
              </a:defRPr>
            </a:lvl1pPr>
          </a:lstStyle>
          <a:p>
            <a:fld id="{4AD51EEE-AB63-4DA6-9F1F-5936DDA55F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3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305C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305C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02D9A-D9B6-42D1-86F5-E1F17C25E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3637279"/>
            <a:ext cx="10383520" cy="1103239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24ADI003-MACHINE LEARNING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023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D560-979D-6C74-232F-10BC9280F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98DF-1DC5-67F9-8832-2AE512B16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327" y="365126"/>
            <a:ext cx="9744365" cy="937202"/>
          </a:xfrm>
        </p:spPr>
        <p:txBody>
          <a:bodyPr>
            <a:normAutofit/>
          </a:bodyPr>
          <a:lstStyle/>
          <a:p>
            <a:r>
              <a:rPr lang="en-US" sz="2800" b="1" dirty="0"/>
              <a:t>Unit III – </a:t>
            </a:r>
            <a:r>
              <a:rPr lang="en-IN" sz="2800" b="1" dirty="0"/>
              <a:t>CLASSIFICATION MODELS </a:t>
            </a:r>
            <a:r>
              <a:rPr lang="en-US" sz="2800" b="1" dirty="0"/>
              <a:t> </a:t>
            </a:r>
            <a:br>
              <a:rPr lang="en-US" sz="2800" b="1" dirty="0"/>
            </a:br>
            <a:endParaRPr lang="en-IN" sz="28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C46F45-4863-1472-CA46-5B6CD772A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40" y="1127760"/>
            <a:ext cx="10021824" cy="50492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Logistic Regression-Naive Bayes Classifiers-Decision Tree-K-Nearest </a:t>
            </a:r>
            <a:r>
              <a:rPr lang="en-IN" dirty="0" err="1"/>
              <a:t>Neighbors</a:t>
            </a:r>
            <a:r>
              <a:rPr lang="en-IN" dirty="0"/>
              <a:t>-Support Vector Machine – Evaluation metrices – AUC ROC- Class Imbalance –SMOTE – Cross-Validation Techniques-Ensemble Learning-Bagging- Random Forests-Boosting - AdaBoost -Gradient Boosting</a:t>
            </a:r>
            <a:endParaRPr lang="en-IN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F20C2D0-966C-B6A5-123E-8B40E2F68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7832" y="6356350"/>
            <a:ext cx="6143244" cy="22999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05C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363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B261-7E98-54E8-AB0E-8C980AAC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NAIVE BAYES CLASSIFIER 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69579-C4A8-6B1C-B18C-100DCDF8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19BABD-52DF-82FF-008C-D9A1A0B251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In many real-world problems, we must </a:t>
                </a:r>
                <a:r>
                  <a:rPr lang="en-US" sz="1600" b="1" dirty="0"/>
                  <a:t>classify objects</a:t>
                </a:r>
                <a:r>
                  <a:rPr lang="en-US" sz="1600" dirty="0"/>
                  <a:t>:</a:t>
                </a:r>
              </a:p>
              <a:p>
                <a:r>
                  <a:rPr lang="en-US" sz="1600" dirty="0"/>
                  <a:t>Is an email </a:t>
                </a:r>
                <a:r>
                  <a:rPr lang="en-US" sz="1600" b="1" dirty="0"/>
                  <a:t>Spam or Not Spam</a:t>
                </a:r>
                <a:r>
                  <a:rPr lang="en-US" sz="1600" dirty="0"/>
                  <a:t>?</a:t>
                </a:r>
              </a:p>
              <a:p>
                <a:r>
                  <a:rPr lang="en-US" sz="1600" dirty="0"/>
                  <a:t>Will a student </a:t>
                </a:r>
                <a:r>
                  <a:rPr lang="en-US" sz="1600" b="1" dirty="0"/>
                  <a:t>Pass or Fail</a:t>
                </a:r>
                <a:r>
                  <a:rPr lang="en-US" sz="1600" dirty="0"/>
                  <a:t>?</a:t>
                </a:r>
              </a:p>
              <a:p>
                <a:r>
                  <a:rPr lang="en-US" sz="1600" dirty="0"/>
                  <a:t>Is a transaction </a:t>
                </a:r>
                <a:r>
                  <a:rPr lang="en-US" sz="1600" b="1" dirty="0"/>
                  <a:t>Fraud or Genuine</a:t>
                </a:r>
                <a:r>
                  <a:rPr lang="en-US" sz="1600" dirty="0"/>
                  <a:t>?</a:t>
                </a:r>
              </a:p>
              <a:p>
                <a:pPr marL="0" indent="0">
                  <a:buNone/>
                </a:pPr>
                <a:r>
                  <a:rPr lang="en-US" sz="1600" dirty="0"/>
                  <a:t>Naive Bayes solves </a:t>
                </a:r>
                <a:r>
                  <a:rPr lang="en-US" sz="1600" b="1" dirty="0"/>
                  <a:t>classification problems</a:t>
                </a:r>
                <a:r>
                  <a:rPr lang="en-US" sz="1600" dirty="0"/>
                  <a:t> by using </a:t>
                </a:r>
                <a:r>
                  <a:rPr lang="en-US" sz="1600" b="1" dirty="0"/>
                  <a:t>probability theory</a:t>
                </a:r>
                <a:r>
                  <a:rPr lang="en-US" sz="1600" dirty="0"/>
                  <a:t>.</a:t>
                </a:r>
              </a:p>
              <a:p>
                <a:pPr marL="0" indent="0">
                  <a:buNone/>
                </a:pPr>
                <a:r>
                  <a:rPr lang="en-US" sz="1600" dirty="0"/>
                  <a:t>Instead of guessing directly, it asks:</a:t>
                </a:r>
              </a:p>
              <a:p>
                <a:pPr marL="0" indent="0" algn="ctr">
                  <a:buNone/>
                </a:pPr>
                <a:r>
                  <a:rPr lang="en-US" sz="1600" b="1" dirty="0"/>
                  <a:t>“Given what I see, which class is most likely?”</a:t>
                </a:r>
              </a:p>
              <a:p>
                <a:pPr marL="0" indent="0">
                  <a:buNone/>
                </a:pPr>
                <a:r>
                  <a:rPr lang="en-IN" sz="1600" b="1" dirty="0"/>
                  <a:t>Bayes’ Theorem </a:t>
                </a:r>
              </a:p>
              <a:p>
                <a:r>
                  <a:rPr lang="en-IN" sz="1600" dirty="0"/>
                  <a:t>Bayes’ theorem allows us to </a:t>
                </a:r>
                <a:r>
                  <a:rPr lang="en-IN" sz="1600" b="1" dirty="0"/>
                  <a:t>reverse conditional probabilities</a:t>
                </a:r>
                <a:r>
                  <a:rPr lang="en-IN" sz="16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ar-AE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ar-AE" sz="1600" b="1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ar-AE" sz="16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ar-AE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ar-AE" sz="1600" b="1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6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600" b="1" i="1"/>
                            <m:t> </m:t>
                          </m:r>
                          <m:r>
                            <a:rPr lang="ar-AE" sz="16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ar-AE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d>
                        </m:num>
                        <m:den>
                          <m:r>
                            <a:rPr lang="ar-AE" sz="16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ar-AE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1600" b="1" dirty="0"/>
              </a:p>
              <a:p>
                <a:pPr marL="0" indent="0">
                  <a:buNone/>
                </a:pPr>
                <a:endParaRPr lang="en-IN" sz="1600" dirty="0"/>
              </a:p>
              <a:p>
                <a:pPr marL="0" indent="0">
                  <a:buNone/>
                </a:pPr>
                <a:endParaRPr lang="en-IN" sz="16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19BABD-52DF-82FF-008C-D9A1A0B25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  <a:blipFill>
                <a:blip r:embed="rId2"/>
                <a:stretch>
                  <a:fillRect l="-372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1D2344-E433-06C7-E7B6-36C05A65E3C2}"/>
              </a:ext>
            </a:extLst>
          </p:cNvPr>
          <p:cNvGraphicFramePr>
            <a:graphicFrameLocks noGrp="1"/>
          </p:cNvGraphicFramePr>
          <p:nvPr/>
        </p:nvGraphicFramePr>
        <p:xfrm>
          <a:off x="1703388" y="4174014"/>
          <a:ext cx="4636452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18226">
                  <a:extLst>
                    <a:ext uri="{9D8B030D-6E8A-4147-A177-3AD203B41FA5}">
                      <a16:colId xmlns:a16="http://schemas.microsoft.com/office/drawing/2014/main" val="2392457967"/>
                    </a:ext>
                  </a:extLst>
                </a:gridCol>
                <a:gridCol w="2318226">
                  <a:extLst>
                    <a:ext uri="{9D8B030D-6E8A-4147-A177-3AD203B41FA5}">
                      <a16:colId xmlns:a16="http://schemas.microsoft.com/office/drawing/2014/main" val="4113676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98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(P(C))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Prior probability (how frequent the class is)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885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(P(X))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Evidence (same for all classes)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5353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4697AC-25D8-9685-6859-FB9ADCFBA37E}"/>
                  </a:ext>
                </a:extLst>
              </p:cNvPr>
              <p:cNvSpPr txBox="1"/>
              <p:nvPr/>
            </p:nvSpPr>
            <p:spPr>
              <a:xfrm>
                <a:off x="6491796" y="4796135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rPr>
                  <a:t>Since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rPr>
                  <a:t>is the same for all classes: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𝐶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𝑋</m:t>
                          </m:r>
                        </m:e>
                      </m:d>
                      <m:r>
                        <a:rPr kumimoji="0" lang="ar-AE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∝</m:t>
                      </m:r>
                      <m:r>
                        <a:rPr kumimoji="0" lang="ar-AE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𝑃</m:t>
                      </m:r>
                      <m:d>
                        <m:d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𝑋</m:t>
                          </m:r>
                          <m:r>
                            <a:rPr kumimoji="0" lang="ar-AE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∣</m:t>
                          </m:r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𝐶</m:t>
                          </m:r>
                        </m:e>
                      </m:d>
                      <m:r>
                        <a:rPr kumimoji="0" lang="ar-AE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𝑃</m:t>
                      </m:r>
                      <m:d>
                        <m:dPr>
                          <m:ctrlP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kumimoji="0" 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kumimoji="0" lang="ar-AE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r-A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rPr>
                  <a:t>➡ 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rPr>
                  <a:t>We </a:t>
                </a: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rPr>
                  <a:t>do NOT calculate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Montserrat" panose="00000500000000000000" pitchFamily="2" charset="0"/>
                    <a:ea typeface="+mn-ea"/>
                    <a:cs typeface="+mn-cs"/>
                  </a:rPr>
                  <a:t>in practice.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4697AC-25D8-9685-6859-FB9ADCFBA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796" y="4796135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l="-1000" t="-3311" b="-10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85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DE29-5D38-6071-9B05-F3ABCF56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1B7E-CB3A-B223-EEFE-5AC938BEA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DC9E0-6C11-BAA3-8DFC-97B0DF40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D770D-DE6B-2DBD-4E80-017BE0EFC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r>
              <a:rPr lang="en-US" sz="1600" dirty="0"/>
              <a:t>Decision Trees mimic </a:t>
            </a:r>
            <a:r>
              <a:rPr lang="en-US" sz="1600" b="1" dirty="0"/>
              <a:t>human decision making</a:t>
            </a:r>
            <a:r>
              <a:rPr lang="en-US" sz="1600" dirty="0"/>
              <a:t>.</a:t>
            </a:r>
          </a:p>
          <a:p>
            <a:r>
              <a:rPr lang="en-US" sz="1600" dirty="0"/>
              <a:t>Example – Placement Prediction: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So tree = </a:t>
            </a:r>
            <a:r>
              <a:rPr lang="en-US" sz="1600" b="1" dirty="0"/>
              <a:t>sequence of questions → prediction</a:t>
            </a:r>
            <a:endParaRPr lang="en-US" sz="1600" dirty="0"/>
          </a:p>
          <a:p>
            <a:r>
              <a:rPr lang="en-US" sz="1600" dirty="0"/>
              <a:t>Used in:</a:t>
            </a:r>
          </a:p>
          <a:p>
            <a:r>
              <a:rPr lang="en-US" sz="1600" dirty="0"/>
              <a:t>Medical diagnosis</a:t>
            </a:r>
          </a:p>
          <a:p>
            <a:r>
              <a:rPr lang="en-US" sz="1600" dirty="0"/>
              <a:t>Loan approval</a:t>
            </a:r>
          </a:p>
          <a:p>
            <a:r>
              <a:rPr lang="en-US" sz="1600" dirty="0"/>
              <a:t>Fraud detection</a:t>
            </a:r>
          </a:p>
          <a:p>
            <a:r>
              <a:rPr lang="en-US" sz="1600" dirty="0"/>
              <a:t>Student performance prediction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CCF12-1BFB-98E6-C356-745F13215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436" y="1605042"/>
            <a:ext cx="38227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54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955EB-988A-4B81-11D7-0A20F0DF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F8E32-FD78-B9B5-B425-EEEBE87B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D8225-6462-7FC9-5BA9-BD4741AD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CC1C0-EBF5-9072-6787-58862705F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r>
              <a:rPr lang="en-US" sz="1600" b="1" dirty="0"/>
              <a:t>DECISION TREE TERMINOLOGY</a:t>
            </a:r>
            <a:endParaRPr lang="en-IN" sz="1600" b="1" dirty="0"/>
          </a:p>
          <a:p>
            <a:pPr marL="0" indent="0">
              <a:buNone/>
            </a:pPr>
            <a:endParaRPr lang="en-IN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156F79-1E8B-591D-0FBF-069C1A1C8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443221"/>
              </p:ext>
            </p:extLst>
          </p:nvPr>
        </p:nvGraphicFramePr>
        <p:xfrm>
          <a:off x="1551686" y="1542574"/>
          <a:ext cx="4991354" cy="268398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95677">
                  <a:extLst>
                    <a:ext uri="{9D8B030D-6E8A-4147-A177-3AD203B41FA5}">
                      <a16:colId xmlns:a16="http://schemas.microsoft.com/office/drawing/2014/main" val="2247758897"/>
                    </a:ext>
                  </a:extLst>
                </a:gridCol>
                <a:gridCol w="2495677">
                  <a:extLst>
                    <a:ext uri="{9D8B030D-6E8A-4147-A177-3AD203B41FA5}">
                      <a16:colId xmlns:a16="http://schemas.microsoft.com/office/drawing/2014/main" val="2643470926"/>
                    </a:ext>
                  </a:extLst>
                </a:gridCol>
              </a:tblGrid>
              <a:tr h="383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920848"/>
                  </a:ext>
                </a:extLst>
              </a:tr>
              <a:tr h="383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Root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First question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9636257"/>
                  </a:ext>
                </a:extLst>
              </a:tr>
              <a:tr h="383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Internal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Decision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44210"/>
                  </a:ext>
                </a:extLst>
              </a:tr>
              <a:tr h="383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Leaf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Final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370287"/>
                  </a:ext>
                </a:extLst>
              </a:tr>
              <a:tr h="383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Branch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Decision 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327583"/>
                  </a:ext>
                </a:extLst>
              </a:tr>
              <a:tr h="383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Length root → leaf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964759"/>
                  </a:ext>
                </a:extLst>
              </a:tr>
              <a:tr h="3834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Parent/Child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Node 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32887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6310DF6-6CB2-683D-DC0E-4484043F5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316" y="1290082"/>
            <a:ext cx="38227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79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531A-2AF2-1FEE-D416-77A7532E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988B-3065-9E03-A744-1A93BE41E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EC8DE-3886-BA83-F14D-CD84D528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19071-D0B7-422E-82AB-4A7BA8F24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r>
              <a:rPr lang="en-US" sz="1600" b="1" dirty="0"/>
              <a:t>HOW DECISION TREES WORK – STEP-BY-STEP</a:t>
            </a:r>
          </a:p>
          <a:p>
            <a:r>
              <a:rPr lang="en-US" sz="1600" dirty="0"/>
              <a:t>Calculate impurity of dataset</a:t>
            </a:r>
          </a:p>
          <a:p>
            <a:r>
              <a:rPr lang="en-US" sz="1600" dirty="0"/>
              <a:t>Try split using each feature</a:t>
            </a:r>
          </a:p>
          <a:p>
            <a:r>
              <a:rPr lang="en-US" sz="1600" dirty="0"/>
              <a:t>Compute Information Gain</a:t>
            </a:r>
          </a:p>
          <a:p>
            <a:r>
              <a:rPr lang="en-US" sz="1600" dirty="0"/>
              <a:t>Choose best split</a:t>
            </a:r>
          </a:p>
          <a:p>
            <a:r>
              <a:rPr lang="en-US" sz="1600" dirty="0"/>
              <a:t>Repeat until pure</a:t>
            </a:r>
          </a:p>
          <a:p>
            <a:r>
              <a:rPr lang="en-US" sz="1600" dirty="0"/>
              <a:t>Goal → </a:t>
            </a:r>
            <a:r>
              <a:rPr lang="en-US" sz="1600" b="1" dirty="0"/>
              <a:t>Make nodes pure</a:t>
            </a:r>
            <a:endParaRPr lang="en-US" sz="1600" dirty="0"/>
          </a:p>
          <a:p>
            <a:r>
              <a:rPr lang="en-US" sz="1600" dirty="0"/>
              <a:t>Pure node → all samples same class.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533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F6B17-3F17-7450-EC40-2B84710A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38F37-EA08-E89C-7F48-89ECAAFA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40F93-8CE0-7CD8-3133-524500FE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1CC185-B378-135D-41A1-2123AD2DE2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</p:spPr>
            <p:txBody>
              <a:bodyPr>
                <a:noAutofit/>
              </a:bodyPr>
              <a:lstStyle/>
              <a:p>
                <a:r>
                  <a:rPr lang="en-US" sz="1600" b="1" dirty="0"/>
                  <a:t>NODE IMPURITY MEASURES</a:t>
                </a:r>
              </a:p>
              <a:p>
                <a:r>
                  <a:rPr lang="en-US" sz="1600" b="1" dirty="0"/>
                  <a:t>ENTROPY </a:t>
                </a:r>
              </a:p>
              <a:p>
                <a:r>
                  <a:rPr lang="en-US" sz="1600" dirty="0"/>
                  <a:t>Entropy measures </a:t>
                </a:r>
                <a:r>
                  <a:rPr lang="en-US" sz="1600" b="1" dirty="0"/>
                  <a:t>uncertainty</a:t>
                </a:r>
                <a:r>
                  <a:rPr lang="en-US" sz="1600" dirty="0"/>
                  <a:t>.</a:t>
                </a:r>
              </a:p>
              <a:p>
                <a:r>
                  <a:rPr lang="en-IN" sz="1600" dirty="0"/>
                  <a:t>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𝐻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𝑆</m:t>
                          </m:r>
                        </m:e>
                      </m:d>
                      <m:r>
                        <a:rPr lang="ar-AE"/>
                        <m:t>=−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/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𝑝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/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𝑝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600" dirty="0"/>
              </a:p>
              <a:p>
                <a:r>
                  <a:rPr lang="en-IN" sz="1600" b="1" dirty="0"/>
                  <a:t>Entropy Values</a:t>
                </a:r>
              </a:p>
              <a:p>
                <a:endParaRPr lang="en-IN" sz="1600" b="1" dirty="0"/>
              </a:p>
              <a:p>
                <a:endParaRPr lang="en-IN" sz="1600" b="1" dirty="0"/>
              </a:p>
              <a:p>
                <a:endParaRPr lang="en-IN" sz="1600" b="1" dirty="0"/>
              </a:p>
              <a:p>
                <a:endParaRPr lang="en-IN" sz="1600" b="1" dirty="0"/>
              </a:p>
              <a:p>
                <a:endParaRPr lang="en-IN" sz="1600" b="1" dirty="0"/>
              </a:p>
              <a:p>
                <a:endParaRPr lang="en-IN" sz="1600" b="1" dirty="0"/>
              </a:p>
              <a:p>
                <a:r>
                  <a:rPr lang="en-IN" sz="1600" b="1" dirty="0"/>
                  <a:t>Lower entropy = better split.</a:t>
                </a: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1CC185-B378-135D-41A1-2123AD2DE2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  <a:blipFill>
                <a:blip r:embed="rId2"/>
                <a:stretch>
                  <a:fillRect l="-248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AE9F7F-DFEB-F34B-5BCD-891B93644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722919"/>
              </p:ext>
            </p:extLst>
          </p:nvPr>
        </p:nvGraphicFramePr>
        <p:xfrm>
          <a:off x="2650014" y="3503454"/>
          <a:ext cx="6891972" cy="15155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45986">
                  <a:extLst>
                    <a:ext uri="{9D8B030D-6E8A-4147-A177-3AD203B41FA5}">
                      <a16:colId xmlns:a16="http://schemas.microsoft.com/office/drawing/2014/main" val="2662999793"/>
                    </a:ext>
                  </a:extLst>
                </a:gridCol>
                <a:gridCol w="3445986">
                  <a:extLst>
                    <a:ext uri="{9D8B030D-6E8A-4147-A177-3AD203B41FA5}">
                      <a16:colId xmlns:a16="http://schemas.microsoft.com/office/drawing/2014/main" val="1936753703"/>
                    </a:ext>
                  </a:extLst>
                </a:gridCol>
              </a:tblGrid>
              <a:tr h="378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Entropy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603399"/>
                  </a:ext>
                </a:extLst>
              </a:tr>
              <a:tr h="378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100%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854744"/>
                  </a:ext>
                </a:extLst>
              </a:tr>
              <a:tr h="378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50% Yes 50%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230499"/>
                  </a:ext>
                </a:extLst>
              </a:tr>
              <a:tr h="378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80% Yes 20%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0.72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463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06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EEA7-1C3E-5CF3-E103-43C3DC4E7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27EF-B007-5FCB-A8CD-A8D3CACB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2DF2A-9C42-FF84-8F78-1F7BF3AF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B76CB-86F5-9BD5-939A-CAA4547EE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r>
              <a:rPr lang="en-IN" sz="1600" b="1" dirty="0"/>
              <a:t>EXAMPLE</a:t>
            </a:r>
          </a:p>
          <a:p>
            <a:r>
              <a:rPr lang="en-IN" sz="1600" dirty="0"/>
              <a:t>Dataset:</a:t>
            </a:r>
            <a:r>
              <a:rPr lang="en-IN" sz="1600" b="1" dirty="0"/>
              <a:t> – ENTROPY</a:t>
            </a:r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Step 1 – Probabilities</a:t>
            </a:r>
          </a:p>
          <a:p>
            <a:r>
              <a:rPr lang="en-IN" sz="1600" dirty="0"/>
              <a:t>p(Pass) = 6/10 = 0.6</a:t>
            </a:r>
            <a:br>
              <a:rPr lang="en-IN" sz="1600" dirty="0"/>
            </a:br>
            <a:r>
              <a:rPr lang="en-IN" sz="1600" dirty="0"/>
              <a:t>p(Fail) = 4/10 = 0.4</a:t>
            </a:r>
          </a:p>
          <a:p>
            <a:pPr marL="0" indent="0">
              <a:buNone/>
            </a:pPr>
            <a:r>
              <a:rPr lang="en-IN" sz="1600" b="1" dirty="0"/>
              <a:t>Step 2 – Logs</a:t>
            </a:r>
          </a:p>
          <a:p>
            <a:r>
              <a:rPr lang="en-IN" sz="1600" dirty="0"/>
              <a:t>log₂(0.6) = −0.737</a:t>
            </a:r>
            <a:br>
              <a:rPr lang="en-IN" sz="1600" dirty="0"/>
            </a:br>
            <a:r>
              <a:rPr lang="en-IN" sz="1600" dirty="0"/>
              <a:t>log₂(0.4) = −1.322</a:t>
            </a:r>
          </a:p>
          <a:p>
            <a:pPr marL="0" indent="0">
              <a:buNone/>
            </a:pPr>
            <a:r>
              <a:rPr lang="en-IN" sz="1600" b="1" dirty="0"/>
              <a:t>Step 3 – Multiply</a:t>
            </a:r>
          </a:p>
          <a:p>
            <a:r>
              <a:rPr lang="en-IN" sz="1600" dirty="0"/>
              <a:t>−0.6 × (−0.737) = 0.442</a:t>
            </a:r>
            <a:br>
              <a:rPr lang="en-IN" sz="1600" dirty="0"/>
            </a:br>
            <a:r>
              <a:rPr lang="en-IN" sz="1600" dirty="0"/>
              <a:t>−0.4 × (−1.322) = 0.529</a:t>
            </a:r>
          </a:p>
          <a:p>
            <a:pPr marL="0" indent="0">
              <a:buNone/>
            </a:pPr>
            <a:r>
              <a:rPr lang="en-IN" sz="1600" b="1" dirty="0"/>
              <a:t>Step 4 – Add</a:t>
            </a:r>
          </a:p>
          <a:p>
            <a:r>
              <a:rPr lang="en-IN" sz="1600" dirty="0"/>
              <a:t>Entropy = </a:t>
            </a:r>
            <a:r>
              <a:rPr lang="en-IN" sz="1600" b="1" dirty="0"/>
              <a:t>0.971</a:t>
            </a:r>
            <a:endParaRPr lang="en-IN" sz="1600" dirty="0"/>
          </a:p>
          <a:p>
            <a:r>
              <a:rPr lang="en-IN" sz="1600" dirty="0"/>
              <a:t>Interpretation → Dataset is mixed.</a:t>
            </a:r>
          </a:p>
          <a:p>
            <a:endParaRPr lang="en-IN" sz="16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B3870D-988B-29F3-5A8B-AB9BD0C7B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166187"/>
              </p:ext>
            </p:extLst>
          </p:nvPr>
        </p:nvGraphicFramePr>
        <p:xfrm>
          <a:off x="1848358" y="1380014"/>
          <a:ext cx="9823450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11725">
                  <a:extLst>
                    <a:ext uri="{9D8B030D-6E8A-4147-A177-3AD203B41FA5}">
                      <a16:colId xmlns:a16="http://schemas.microsoft.com/office/drawing/2014/main" val="4160259546"/>
                    </a:ext>
                  </a:extLst>
                </a:gridCol>
                <a:gridCol w="4911725">
                  <a:extLst>
                    <a:ext uri="{9D8B030D-6E8A-4147-A177-3AD203B41FA5}">
                      <a16:colId xmlns:a16="http://schemas.microsoft.com/office/drawing/2014/main" val="328953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56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013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690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27A7-3A60-5245-7164-29A7487F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6D27-791C-7555-3887-D8BF95C58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BB228-4538-2E44-EAC1-B4058ED4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BC62B-B0DF-010E-12A6-313FE2EAA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r>
              <a:rPr lang="en-IN" sz="1600" b="1" dirty="0"/>
              <a:t>EXAMPLE</a:t>
            </a:r>
          </a:p>
          <a:p>
            <a:r>
              <a:rPr lang="en-IN" sz="1600" dirty="0"/>
              <a:t>Dataset:</a:t>
            </a:r>
            <a:r>
              <a:rPr lang="en-IN" sz="1600" b="1" dirty="0"/>
              <a:t> – ENTROPY  </a:t>
            </a:r>
            <a:r>
              <a:rPr lang="en-IN" sz="1600" dirty="0" err="1"/>
              <a:t>Entropy</a:t>
            </a:r>
            <a:r>
              <a:rPr lang="en-IN" sz="1600" dirty="0"/>
              <a:t> = </a:t>
            </a:r>
            <a:r>
              <a:rPr lang="en-IN" sz="1600" b="1" dirty="0"/>
              <a:t>0.971</a:t>
            </a:r>
            <a:endParaRPr lang="en-IN" sz="1600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r>
              <a:rPr lang="en-US" sz="1600" b="1" dirty="0"/>
              <a:t>INFORMATION GAIN – FULL SOLUTION</a:t>
            </a:r>
          </a:p>
          <a:p>
            <a:r>
              <a:rPr lang="en-US" sz="1600" dirty="0"/>
              <a:t>Split by </a:t>
            </a:r>
            <a:r>
              <a:rPr lang="en-US" sz="1600" b="1" dirty="0"/>
              <a:t>Study Hours</a:t>
            </a:r>
            <a:endParaRPr lang="en-US" sz="1600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r>
              <a:rPr lang="en-IN" sz="1600" b="1" dirty="0"/>
              <a:t>Step 1 – Parent Entropy</a:t>
            </a:r>
          </a:p>
          <a:p>
            <a:r>
              <a:rPr lang="en-IN" sz="1600" dirty="0"/>
              <a:t>Already = 0.971</a:t>
            </a:r>
          </a:p>
          <a:p>
            <a:r>
              <a:rPr lang="en-IN" sz="1600" b="1" dirty="0"/>
              <a:t>Step 2 – Entropy Low</a:t>
            </a:r>
          </a:p>
          <a:p>
            <a:r>
              <a:rPr lang="en-IN" sz="1600" dirty="0"/>
              <a:t>p = 2/5 = 0.4</a:t>
            </a:r>
            <a:br>
              <a:rPr lang="en-IN" sz="1600" dirty="0"/>
            </a:br>
            <a:r>
              <a:rPr lang="en-IN" sz="1600" dirty="0" err="1"/>
              <a:t>Entropy_low</a:t>
            </a:r>
            <a:r>
              <a:rPr lang="en-IN" sz="1600" dirty="0"/>
              <a:t> = 0.971</a:t>
            </a:r>
          </a:p>
          <a:p>
            <a:endParaRPr lang="en-IN" sz="16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663141-2112-612F-BC03-7E9F50995C41}"/>
              </a:ext>
            </a:extLst>
          </p:cNvPr>
          <p:cNvGraphicFramePr>
            <a:graphicFrameLocks noGrp="1"/>
          </p:cNvGraphicFramePr>
          <p:nvPr/>
        </p:nvGraphicFramePr>
        <p:xfrm>
          <a:off x="1848358" y="1380014"/>
          <a:ext cx="9823450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11725">
                  <a:extLst>
                    <a:ext uri="{9D8B030D-6E8A-4147-A177-3AD203B41FA5}">
                      <a16:colId xmlns:a16="http://schemas.microsoft.com/office/drawing/2014/main" val="4160259546"/>
                    </a:ext>
                  </a:extLst>
                </a:gridCol>
                <a:gridCol w="4911725">
                  <a:extLst>
                    <a:ext uri="{9D8B030D-6E8A-4147-A177-3AD203B41FA5}">
                      <a16:colId xmlns:a16="http://schemas.microsoft.com/office/drawing/2014/main" val="328953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560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01324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3C683C-3103-4B41-ECDA-4FA379C9E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718246"/>
              </p:ext>
            </p:extLst>
          </p:nvPr>
        </p:nvGraphicFramePr>
        <p:xfrm>
          <a:off x="1977708" y="3188494"/>
          <a:ext cx="9823449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4483">
                  <a:extLst>
                    <a:ext uri="{9D8B030D-6E8A-4147-A177-3AD203B41FA5}">
                      <a16:colId xmlns:a16="http://schemas.microsoft.com/office/drawing/2014/main" val="934044668"/>
                    </a:ext>
                  </a:extLst>
                </a:gridCol>
                <a:gridCol w="3274483">
                  <a:extLst>
                    <a:ext uri="{9D8B030D-6E8A-4147-A177-3AD203B41FA5}">
                      <a16:colId xmlns:a16="http://schemas.microsoft.com/office/drawing/2014/main" val="883737665"/>
                    </a:ext>
                  </a:extLst>
                </a:gridCol>
                <a:gridCol w="3274483">
                  <a:extLst>
                    <a:ext uri="{9D8B030D-6E8A-4147-A177-3AD203B41FA5}">
                      <a16:colId xmlns:a16="http://schemas.microsoft.com/office/drawing/2014/main" val="1365653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382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117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9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860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2F28-ADC9-93B1-FAB1-4CBB4680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F703-CB95-2B80-F90E-90E913B80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DABCF-1496-8222-4B08-78FE81FB8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5AE95A-32BC-36E8-CF0F-2232D8CEA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</p:spPr>
            <p:txBody>
              <a:bodyPr>
                <a:noAutofit/>
              </a:bodyPr>
              <a:lstStyle/>
              <a:p>
                <a:r>
                  <a:rPr lang="en-US" sz="1600" b="1" dirty="0"/>
                  <a:t>INFORMATION GAIN – FULL SOLUTION</a:t>
                </a:r>
              </a:p>
              <a:p>
                <a:r>
                  <a:rPr lang="en-US" sz="1600" dirty="0"/>
                  <a:t>Split by </a:t>
                </a:r>
                <a:r>
                  <a:rPr lang="en-US" sz="1600" b="1" dirty="0"/>
                  <a:t>Study Hours</a:t>
                </a:r>
                <a:endParaRPr lang="en-US" sz="1600" dirty="0"/>
              </a:p>
              <a:p>
                <a:endParaRPr lang="en-IN" sz="1600" b="1" dirty="0"/>
              </a:p>
              <a:p>
                <a:endParaRPr lang="en-IN" sz="1600" b="1" dirty="0"/>
              </a:p>
              <a:p>
                <a:endParaRPr lang="en-IN" sz="1600" b="1" dirty="0"/>
              </a:p>
              <a:p>
                <a:endParaRPr lang="en-IN" sz="1600" b="1" dirty="0"/>
              </a:p>
              <a:p>
                <a:r>
                  <a:rPr lang="en-IN" sz="1600" b="1" dirty="0"/>
                  <a:t>Step 3 – Entropy High</a:t>
                </a:r>
              </a:p>
              <a:p>
                <a:r>
                  <a:rPr lang="en-IN" sz="1600" dirty="0"/>
                  <a:t>p = 4/5 = 0.8</a:t>
                </a:r>
              </a:p>
              <a:p>
                <a:r>
                  <a:rPr lang="en-IN" sz="1600" dirty="0" err="1"/>
                  <a:t>Entropy_high</a:t>
                </a:r>
                <a:r>
                  <a:rPr lang="en-IN" sz="1600" dirty="0"/>
                  <a:t> =</a:t>
                </a:r>
                <a:br>
                  <a:rPr lang="en-IN" sz="1600" dirty="0"/>
                </a:br>
                <a:r>
                  <a:rPr lang="en-IN" sz="1600" dirty="0"/>
                  <a:t>= −0.8 log₂0.8 − 0.2 log₂0.2</a:t>
                </a:r>
                <a:br>
                  <a:rPr lang="en-IN" sz="1600" dirty="0"/>
                </a:br>
                <a:r>
                  <a:rPr lang="en-IN" sz="1600" dirty="0"/>
                  <a:t>= </a:t>
                </a:r>
                <a:r>
                  <a:rPr lang="en-IN" sz="1600" b="1" dirty="0"/>
                  <a:t>0.722</a:t>
                </a:r>
              </a:p>
              <a:p>
                <a:r>
                  <a:rPr lang="en-IN" sz="1600" b="1" dirty="0"/>
                  <a:t>Step 4 – Weighted Entropy</a:t>
                </a:r>
              </a:p>
              <a:p>
                <a14:m>
                  <m:oMath xmlns:m="http://schemas.openxmlformats.org/officeDocument/2006/math">
                    <m:r>
                      <a:rPr lang="en-IN" sz="1600"/>
                      <m:t>=</m:t>
                    </m:r>
                    <m:d>
                      <m:dPr>
                        <m:ctrlPr>
                          <a:rPr lang="ar-AE" sz="1600" i="1"/>
                        </m:ctrlPr>
                      </m:dPr>
                      <m:e>
                        <m:r>
                          <a:rPr lang="ar-AE" sz="1600"/>
                          <m:t>5</m:t>
                        </m:r>
                        <m:r>
                          <a:rPr lang="ar-AE" sz="1600"/>
                          <m:t>/</m:t>
                        </m:r>
                        <m:r>
                          <a:rPr lang="ar-AE" sz="1600"/>
                          <m:t>10</m:t>
                        </m:r>
                      </m:e>
                    </m:d>
                    <m:r>
                      <a:rPr lang="ar-AE" sz="1600"/>
                      <m:t>×</m:t>
                    </m:r>
                    <m:r>
                      <a:rPr lang="ar-AE" sz="1600"/>
                      <m:t>0</m:t>
                    </m:r>
                    <m:r>
                      <a:rPr lang="ar-AE" sz="1600"/>
                      <m:t>.</m:t>
                    </m:r>
                    <m:r>
                      <a:rPr lang="ar-AE" sz="1600"/>
                      <m:t>971</m:t>
                    </m:r>
                    <m:r>
                      <a:rPr lang="ar-AE" sz="1600"/>
                      <m:t>+</m:t>
                    </m:r>
                    <m:d>
                      <m:dPr>
                        <m:ctrlPr>
                          <a:rPr lang="ar-AE" sz="1600" i="1"/>
                        </m:ctrlPr>
                      </m:dPr>
                      <m:e>
                        <m:r>
                          <a:rPr lang="ar-AE" sz="1600"/>
                          <m:t>5</m:t>
                        </m:r>
                        <m:r>
                          <a:rPr lang="ar-AE" sz="1600"/>
                          <m:t>/</m:t>
                        </m:r>
                        <m:r>
                          <a:rPr lang="ar-AE" sz="1600"/>
                          <m:t>10</m:t>
                        </m:r>
                      </m:e>
                    </m:d>
                    <m:r>
                      <a:rPr lang="ar-AE" sz="1600"/>
                      <m:t>×</m:t>
                    </m:r>
                    <m:r>
                      <a:rPr lang="ar-AE" sz="1600"/>
                      <m:t>0</m:t>
                    </m:r>
                    <m:r>
                      <a:rPr lang="ar-AE" sz="1600"/>
                      <m:t>.</m:t>
                    </m:r>
                    <m:r>
                      <a:rPr lang="ar-AE" sz="1600"/>
                      <m:t>722</m:t>
                    </m:r>
                    <m:r>
                      <a:rPr lang="ar-AE" sz="1600"/>
                      <m:t>=</m:t>
                    </m:r>
                    <m:r>
                      <a:rPr lang="ar-AE" sz="1600"/>
                      <m:t>0</m:t>
                    </m:r>
                    <m:r>
                      <a:rPr lang="ar-AE" sz="1600"/>
                      <m:t>.</m:t>
                    </m:r>
                    <m:r>
                      <a:rPr lang="ar-AE" sz="1600"/>
                      <m:t>485</m:t>
                    </m:r>
                    <m:r>
                      <a:rPr lang="ar-AE" sz="1600"/>
                      <m:t>+</m:t>
                    </m:r>
                    <m:r>
                      <a:rPr lang="ar-AE" sz="1600"/>
                      <m:t>0</m:t>
                    </m:r>
                    <m:r>
                      <a:rPr lang="ar-AE" sz="1600"/>
                      <m:t>.</m:t>
                    </m:r>
                    <m:r>
                      <a:rPr lang="ar-AE" sz="1600"/>
                      <m:t>361</m:t>
                    </m:r>
                    <m:r>
                      <a:rPr lang="ar-AE" sz="1600"/>
                      <m:t>=</m:t>
                    </m:r>
                    <m:r>
                      <a:rPr lang="ar-AE" sz="1600" b="1" i="1"/>
                      <m:t>𝟎</m:t>
                    </m:r>
                    <m:r>
                      <a:rPr lang="ar-AE" sz="1600" b="1"/>
                      <m:t>.</m:t>
                    </m:r>
                    <m:r>
                      <a:rPr lang="ar-AE" sz="1600" b="1" i="1"/>
                      <m:t>𝟖𝟒𝟔</m:t>
                    </m:r>
                  </m:oMath>
                </a14:m>
                <a:endParaRPr lang="ar-AE" sz="1600" b="1" dirty="0"/>
              </a:p>
              <a:p>
                <a:r>
                  <a:rPr lang="en-IN" sz="1600" b="1" dirty="0"/>
                  <a:t>Step 5 – Information Gain</a:t>
                </a:r>
              </a:p>
              <a:p>
                <a14:m>
                  <m:oMath xmlns:m="http://schemas.openxmlformats.org/officeDocument/2006/math">
                    <m:r>
                      <a:rPr lang="en-IN" sz="1600" i="1"/>
                      <m:t>𝐼𝐺</m:t>
                    </m:r>
                    <m:r>
                      <a:rPr lang="en-IN" sz="1600"/>
                      <m:t>=</m:t>
                    </m:r>
                    <m:r>
                      <a:rPr lang="en-IN" sz="1600"/>
                      <m:t>0</m:t>
                    </m:r>
                    <m:r>
                      <a:rPr lang="en-IN" sz="1600"/>
                      <m:t>.</m:t>
                    </m:r>
                    <m:r>
                      <a:rPr lang="en-IN" sz="1600"/>
                      <m:t>971</m:t>
                    </m:r>
                    <m:r>
                      <a:rPr lang="en-IN" sz="1600"/>
                      <m:t>−</m:t>
                    </m:r>
                    <m:r>
                      <a:rPr lang="en-IN" sz="1600"/>
                      <m:t>0</m:t>
                    </m:r>
                    <m:r>
                      <a:rPr lang="en-IN" sz="1600"/>
                      <m:t>.</m:t>
                    </m:r>
                    <m:r>
                      <a:rPr lang="en-IN" sz="1600"/>
                      <m:t>846</m:t>
                    </m:r>
                    <m:r>
                      <a:rPr lang="en-IN" sz="1600"/>
                      <m:t>=</m:t>
                    </m:r>
                    <m:r>
                      <a:rPr lang="en-IN" sz="1600"/>
                      <m:t>0</m:t>
                    </m:r>
                    <m:r>
                      <a:rPr lang="en-IN" sz="1600"/>
                      <m:t>.</m:t>
                    </m:r>
                    <m:r>
                      <a:rPr lang="en-IN" sz="1600"/>
                      <m:t>125</m:t>
                    </m:r>
                  </m:oMath>
                </a14:m>
                <a:endParaRPr lang="en-IN" sz="1600" dirty="0"/>
              </a:p>
              <a:p>
                <a:r>
                  <a:rPr lang="en-IN" sz="1600" dirty="0"/>
                  <a:t> </a:t>
                </a:r>
                <a:r>
                  <a:rPr lang="en-IN" sz="1600" b="1" dirty="0"/>
                  <a:t>Small IG → Weak feature.</a:t>
                </a:r>
              </a:p>
              <a:p>
                <a:r>
                  <a:rPr lang="en-IN" sz="1600" dirty="0"/>
                  <a:t>Students should compare IG for all features.</a:t>
                </a:r>
              </a:p>
              <a:p>
                <a:endParaRPr lang="en-IN" sz="1600" dirty="0"/>
              </a:p>
              <a:p>
                <a:endParaRPr lang="en-IN" sz="1600" b="1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65AE95A-32BC-36E8-CF0F-2232D8CEA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  <a:blipFill>
                <a:blip r:embed="rId2"/>
                <a:stretch>
                  <a:fillRect l="-248" t="-777" b="-3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B6EF12-D033-2ECB-536A-75C41CD4C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482841"/>
              </p:ext>
            </p:extLst>
          </p:nvPr>
        </p:nvGraphicFramePr>
        <p:xfrm>
          <a:off x="1848359" y="1380014"/>
          <a:ext cx="9823449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4483">
                  <a:extLst>
                    <a:ext uri="{9D8B030D-6E8A-4147-A177-3AD203B41FA5}">
                      <a16:colId xmlns:a16="http://schemas.microsoft.com/office/drawing/2014/main" val="934044668"/>
                    </a:ext>
                  </a:extLst>
                </a:gridCol>
                <a:gridCol w="3274483">
                  <a:extLst>
                    <a:ext uri="{9D8B030D-6E8A-4147-A177-3AD203B41FA5}">
                      <a16:colId xmlns:a16="http://schemas.microsoft.com/office/drawing/2014/main" val="883737665"/>
                    </a:ext>
                  </a:extLst>
                </a:gridCol>
                <a:gridCol w="3274483">
                  <a:extLst>
                    <a:ext uri="{9D8B030D-6E8A-4147-A177-3AD203B41FA5}">
                      <a16:colId xmlns:a16="http://schemas.microsoft.com/office/drawing/2014/main" val="1365653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382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117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9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351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9F799-406C-CDC7-49A6-2B16B02B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FFC9-3A95-631E-F44D-FCE2BF80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93C349-9374-740F-DA46-A884DE86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B584BDF-BBE0-0F5C-A715-DCDFC5451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</p:spPr>
            <p:txBody>
              <a:bodyPr>
                <a:noAutofit/>
              </a:bodyPr>
              <a:lstStyle/>
              <a:p>
                <a:r>
                  <a:rPr lang="en-IN" sz="1600" b="1" dirty="0"/>
                  <a:t>GINI INDEX –</a:t>
                </a:r>
              </a:p>
              <a:p>
                <a:r>
                  <a:rPr lang="en-IN" sz="1600" dirty="0"/>
                  <a:t>Formula: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𝐺𝑖𝑛𝑖</m:t>
                      </m:r>
                      <m:r>
                        <a:rPr lang="en-IN"/>
                        <m:t>=</m:t>
                      </m:r>
                      <m:r>
                        <a:rPr lang="en-IN"/>
                        <m:t>1</m:t>
                      </m:r>
                      <m:r>
                        <a:rPr lang="en-IN"/>
                        <m:t>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/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𝑝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Parent: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/>
                        <m:t>=</m:t>
                      </m:r>
                      <m:r>
                        <a:rPr lang="en-IN"/>
                        <m:t>1</m:t>
                      </m:r>
                      <m:r>
                        <a:rPr lang="en-IN"/>
                        <m:t>−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/>
                                <m:t>0</m:t>
                              </m:r>
                              <m:r>
                                <a:rPr lang="ar-AE"/>
                                <m:t>.</m:t>
                              </m:r>
                              <m:r>
                                <a:rPr lang="ar-AE"/>
                                <m:t>6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  <m:r>
                            <a:rPr lang="ar-AE"/>
                            <m:t>+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/>
                                <m:t>0</m:t>
                              </m:r>
                              <m:r>
                                <a:rPr lang="ar-AE"/>
                                <m:t>.</m:t>
                              </m:r>
                              <m:r>
                                <a:rPr lang="ar-AE"/>
                                <m:t>4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1</m:t>
                      </m:r>
                      <m:r>
                        <a:rPr lang="ar-AE"/>
                        <m:t>−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0</m:t>
                          </m:r>
                          <m:r>
                            <a:rPr lang="ar-AE"/>
                            <m:t>.</m:t>
                          </m:r>
                          <m:r>
                            <a:rPr lang="ar-AE"/>
                            <m:t>36</m:t>
                          </m:r>
                          <m:r>
                            <a:rPr lang="ar-AE"/>
                            <m:t>+</m:t>
                          </m:r>
                          <m:r>
                            <a:rPr lang="ar-AE"/>
                            <m:t>0</m:t>
                          </m:r>
                          <m:r>
                            <a:rPr lang="ar-AE"/>
                            <m:t>.</m:t>
                          </m:r>
                          <m:r>
                            <a:rPr lang="ar-AE"/>
                            <m:t>16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0</m:t>
                      </m:r>
                      <m:r>
                        <a:rPr lang="ar-AE"/>
                        <m:t>.</m:t>
                      </m:r>
                      <m:r>
                        <a:rPr lang="ar-AE"/>
                        <m:t>48</m:t>
                      </m:r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Low Hours: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/>
                        <m:t>=</m:t>
                      </m:r>
                      <m:r>
                        <a:rPr lang="en-IN"/>
                        <m:t>1</m:t>
                      </m:r>
                      <m:r>
                        <a:rPr lang="en-IN"/>
                        <m:t>−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/>
                                <m:t>0</m:t>
                              </m:r>
                              <m:r>
                                <a:rPr lang="ar-AE"/>
                                <m:t>.</m:t>
                              </m:r>
                              <m:r>
                                <a:rPr lang="ar-AE"/>
                                <m:t>4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  <m:r>
                            <a:rPr lang="ar-AE"/>
                            <m:t>+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/>
                                <m:t>0</m:t>
                              </m:r>
                              <m:r>
                                <a:rPr lang="ar-AE"/>
                                <m:t>.</m:t>
                              </m:r>
                              <m:r>
                                <a:rPr lang="ar-AE"/>
                                <m:t>6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0</m:t>
                      </m:r>
                      <m:r>
                        <a:rPr lang="ar-AE"/>
                        <m:t>.</m:t>
                      </m:r>
                      <m:r>
                        <a:rPr lang="ar-AE"/>
                        <m:t>48</m:t>
                      </m:r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High Hours: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/>
                        <m:t>=</m:t>
                      </m:r>
                      <m:r>
                        <a:rPr lang="en-IN"/>
                        <m:t>1</m:t>
                      </m:r>
                      <m:r>
                        <a:rPr lang="en-IN"/>
                        <m:t>−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/>
                                <m:t>0</m:t>
                              </m:r>
                              <m:r>
                                <a:rPr lang="ar-AE"/>
                                <m:t>.</m:t>
                              </m:r>
                              <m:r>
                                <a:rPr lang="ar-AE"/>
                                <m:t>8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  <m:r>
                            <a:rPr lang="ar-AE"/>
                            <m:t>+</m:t>
                          </m:r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a:rPr lang="ar-AE"/>
                                <m:t>0</m:t>
                              </m:r>
                              <m:r>
                                <a:rPr lang="ar-AE"/>
                                <m:t>.</m:t>
                              </m:r>
                              <m:r>
                                <a:rPr lang="ar-AE"/>
                                <m:t>2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/>
                        <m:t>=</m:t>
                      </m:r>
                      <m:r>
                        <a:rPr lang="ar-AE"/>
                        <m:t>0</m:t>
                      </m:r>
                      <m:r>
                        <a:rPr lang="ar-AE"/>
                        <m:t>.</m:t>
                      </m:r>
                      <m:r>
                        <a:rPr lang="ar-AE"/>
                        <m:t>32</m:t>
                      </m:r>
                    </m:oMath>
                  </m:oMathPara>
                </a14:m>
                <a:endParaRPr lang="ar-AE" sz="1600" dirty="0"/>
              </a:p>
              <a:p>
                <a:r>
                  <a:rPr lang="en-IN" sz="1600" b="1" dirty="0"/>
                  <a:t>Lower Gini = Better.</a:t>
                </a:r>
              </a:p>
              <a:p>
                <a:endParaRPr lang="en-IN" sz="1600" dirty="0"/>
              </a:p>
              <a:p>
                <a:endParaRPr lang="en-IN" sz="1600" b="1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B584BDF-BBE0-0F5C-A715-DCDFC5451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  <a:blipFill>
                <a:blip r:embed="rId2"/>
                <a:stretch>
                  <a:fillRect l="-248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40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6CD83-95B9-FD04-7463-D0A56DD2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3AD3-CA53-C82A-D223-449FB1D0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8F0A6-9931-2F11-6F84-EDC6FEE3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FED238-F7FA-6063-7322-F3C066828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</p:spPr>
            <p:txBody>
              <a:bodyPr>
                <a:noAutofit/>
              </a:bodyPr>
              <a:lstStyle/>
              <a:p>
                <a:r>
                  <a:rPr lang="en-IN" sz="1600" dirty="0"/>
                  <a:t>PROBLEM STATEMENT-Placement Prediction DATASET</a:t>
                </a:r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r>
                  <a:rPr lang="en-IN" sz="1600" b="1" dirty="0"/>
                  <a:t>Step 1 – Parent Entropy</a:t>
                </a:r>
              </a:p>
              <a:p>
                <a:r>
                  <a:rPr lang="en-IN" sz="1600" dirty="0"/>
                  <a:t>Yes = 2</a:t>
                </a:r>
                <a:br>
                  <a:rPr lang="en-IN" sz="1600" dirty="0"/>
                </a:br>
                <a:r>
                  <a:rPr lang="en-IN" sz="1600" dirty="0"/>
                  <a:t>No = 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/>
                        <m:t>𝐻</m:t>
                      </m:r>
                      <m:r>
                        <a:rPr lang="en-IN" sz="1600"/>
                        <m:t>=−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2</m:t>
                          </m:r>
                        </m:num>
                        <m:den>
                          <m:r>
                            <a:rPr lang="ar-AE" sz="1600"/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16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1600"/>
                            <m:t>2</m:t>
                          </m:r>
                        </m:sub>
                      </m:sSub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2</m:t>
                          </m:r>
                        </m:num>
                        <m:den>
                          <m:r>
                            <a:rPr lang="ar-AE" sz="1600"/>
                            <m:t>5</m:t>
                          </m:r>
                        </m:den>
                      </m:f>
                      <m:r>
                        <a:rPr lang="ar-AE" sz="1600"/>
                        <m:t>−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3</m:t>
                          </m:r>
                        </m:num>
                        <m:den>
                          <m:r>
                            <a:rPr lang="ar-AE" sz="1600"/>
                            <m:t>5</m:t>
                          </m:r>
                        </m:den>
                      </m:f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16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1600"/>
                            <m:t>2</m:t>
                          </m:r>
                        </m:sub>
                      </m:sSub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3</m:t>
                          </m:r>
                        </m:num>
                        <m:den>
                          <m:r>
                            <a:rPr lang="ar-AE" sz="1600"/>
                            <m:t>5</m:t>
                          </m:r>
                        </m:den>
                      </m:f>
                    </m:oMath>
                  </m:oMathPara>
                </a14:m>
                <a:endParaRPr lang="ar-AE" sz="1600" dirty="0"/>
              </a:p>
              <a:p>
                <a14:m>
                  <m:oMath xmlns:m="http://schemas.openxmlformats.org/officeDocument/2006/math">
                    <m:r>
                      <a:rPr lang="ar-AE" sz="1600"/>
                      <m:t>=</m:t>
                    </m:r>
                    <m:r>
                      <a:rPr lang="ar-AE" sz="1600"/>
                      <m:t>0</m:t>
                    </m:r>
                    <m:r>
                      <a:rPr lang="ar-AE" sz="1600"/>
                      <m:t>.</m:t>
                    </m:r>
                    <m:r>
                      <a:rPr lang="ar-AE" sz="1600"/>
                      <m:t>971</m:t>
                    </m:r>
                  </m:oMath>
                </a14:m>
                <a:endParaRPr lang="ar-AE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b="1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FED238-F7FA-6063-7322-F3C066828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  <a:blipFill>
                <a:blip r:embed="rId3"/>
                <a:stretch>
                  <a:fillRect l="-248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AE4C5F-FDE8-DA90-9618-B3A1006D2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979839"/>
              </p:ext>
            </p:extLst>
          </p:nvPr>
        </p:nvGraphicFramePr>
        <p:xfrm>
          <a:off x="2145031" y="1321832"/>
          <a:ext cx="9823449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4483">
                  <a:extLst>
                    <a:ext uri="{9D8B030D-6E8A-4147-A177-3AD203B41FA5}">
                      <a16:colId xmlns:a16="http://schemas.microsoft.com/office/drawing/2014/main" val="1593192315"/>
                    </a:ext>
                  </a:extLst>
                </a:gridCol>
                <a:gridCol w="3274483">
                  <a:extLst>
                    <a:ext uri="{9D8B030D-6E8A-4147-A177-3AD203B41FA5}">
                      <a16:colId xmlns:a16="http://schemas.microsoft.com/office/drawing/2014/main" val="1665916328"/>
                    </a:ext>
                  </a:extLst>
                </a:gridCol>
                <a:gridCol w="3274483">
                  <a:extLst>
                    <a:ext uri="{9D8B030D-6E8A-4147-A177-3AD203B41FA5}">
                      <a16:colId xmlns:a16="http://schemas.microsoft.com/office/drawing/2014/main" val="58550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CGPA&gt;8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Internship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Placed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5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046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371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73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56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960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39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950D7-FE53-0389-83A9-26018743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C42B-2E4B-EB0F-9AEB-57FF820F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6CE4B-1D1F-DDDC-AF8E-281A240E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595F83C-BBBB-42B6-1421-7C8F6F4330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</p:spPr>
            <p:txBody>
              <a:bodyPr>
                <a:noAutofit/>
              </a:bodyPr>
              <a:lstStyle/>
              <a:p>
                <a:r>
                  <a:rPr lang="en-IN" sz="1600" dirty="0"/>
                  <a:t>PROBLEM STATEMENT-Placement Prediction DATASET</a:t>
                </a:r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r>
                  <a:rPr lang="en-IN" sz="1600" b="1" dirty="0"/>
                  <a:t>Step 2 – Split on CGPA</a:t>
                </a:r>
              </a:p>
              <a:p>
                <a:r>
                  <a:rPr lang="en-IN" sz="1600" dirty="0"/>
                  <a:t>CGPA=Yes → 2 Yes,1 No</a:t>
                </a:r>
                <a:br>
                  <a:rPr lang="en-IN" sz="1600" dirty="0"/>
                </a:br>
                <a:r>
                  <a:rPr lang="en-IN" sz="1600" dirty="0"/>
                  <a:t>CGPA=No → 0 Yes,2 No</a:t>
                </a:r>
              </a:p>
              <a:p>
                <a:r>
                  <a:rPr lang="en-IN" sz="1600" dirty="0"/>
                  <a:t>Entropy(CGPA Yes):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1600"/>
                        <m:t>=−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2</m:t>
                          </m:r>
                        </m:num>
                        <m:den>
                          <m:r>
                            <a:rPr lang="ar-AE" sz="1600"/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16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1600"/>
                            <m:t>2</m:t>
                          </m:r>
                        </m:sub>
                      </m:sSub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2</m:t>
                          </m:r>
                        </m:num>
                        <m:den>
                          <m:r>
                            <a:rPr lang="ar-AE" sz="1600"/>
                            <m:t>3</m:t>
                          </m:r>
                        </m:den>
                      </m:f>
                      <m:r>
                        <a:rPr lang="ar-AE" sz="1600"/>
                        <m:t>−</m:t>
                      </m:r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1</m:t>
                          </m:r>
                        </m:num>
                        <m:den>
                          <m:r>
                            <a:rPr lang="ar-AE" sz="1600"/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func>
                            <m:funcPr>
                              <m:ctrlPr>
                                <a:rPr lang="ar-AE" sz="1600" i="1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/>
                                <m:t>log</m:t>
                              </m:r>
                            </m:fName>
                            <m:e/>
                          </m:func>
                        </m:e>
                        <m:sub>
                          <m:r>
                            <a:rPr lang="ar-AE" sz="1600"/>
                            <m:t>2</m:t>
                          </m:r>
                        </m:sub>
                      </m:sSub>
                      <m:f>
                        <m:fPr>
                          <m:ctrlPr>
                            <a:rPr lang="ar-AE" sz="1600" i="1"/>
                          </m:ctrlPr>
                        </m:fPr>
                        <m:num>
                          <m:r>
                            <a:rPr lang="ar-AE" sz="1600"/>
                            <m:t>1</m:t>
                          </m:r>
                        </m:num>
                        <m:den>
                          <m:r>
                            <a:rPr lang="ar-AE" sz="1600"/>
                            <m:t>3</m:t>
                          </m:r>
                        </m:den>
                      </m:f>
                      <m:r>
                        <a:rPr lang="ar-AE" sz="1600"/>
                        <m:t>=</m:t>
                      </m:r>
                      <m:r>
                        <a:rPr lang="ar-AE" sz="1600"/>
                        <m:t>0</m:t>
                      </m:r>
                      <m:r>
                        <a:rPr lang="ar-AE" sz="1600"/>
                        <m:t>.</m:t>
                      </m:r>
                      <m:r>
                        <a:rPr lang="ar-AE" sz="1600"/>
                        <m:t>918</m:t>
                      </m:r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Entropy(CGPA No) = 0</a:t>
                </a:r>
              </a:p>
              <a:p>
                <a:r>
                  <a:rPr lang="en-IN" sz="1600" dirty="0"/>
                  <a:t>Weighted entropy: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918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551</m:t>
                      </m:r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IG(CGPA) = 0.971 − 0.551 = </a:t>
                </a:r>
                <a:r>
                  <a:rPr lang="en-IN" sz="1600" b="1" dirty="0"/>
                  <a:t>0.42</a:t>
                </a:r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dirty="0"/>
              </a:p>
              <a:p>
                <a:endParaRPr lang="en-IN" sz="1600" b="1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595F83C-BBBB-42B6-1421-7C8F6F433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9823704" cy="5496243"/>
              </a:xfrm>
              <a:blipFill>
                <a:blip r:embed="rId3"/>
                <a:stretch>
                  <a:fillRect l="-248" t="-777" b="-17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60100A-F540-16AA-ECB2-E4016B07C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756179"/>
              </p:ext>
            </p:extLst>
          </p:nvPr>
        </p:nvGraphicFramePr>
        <p:xfrm>
          <a:off x="3870959" y="1035208"/>
          <a:ext cx="5892801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64267">
                  <a:extLst>
                    <a:ext uri="{9D8B030D-6E8A-4147-A177-3AD203B41FA5}">
                      <a16:colId xmlns:a16="http://schemas.microsoft.com/office/drawing/2014/main" val="1593192315"/>
                    </a:ext>
                  </a:extLst>
                </a:gridCol>
                <a:gridCol w="1964267">
                  <a:extLst>
                    <a:ext uri="{9D8B030D-6E8A-4147-A177-3AD203B41FA5}">
                      <a16:colId xmlns:a16="http://schemas.microsoft.com/office/drawing/2014/main" val="1665916328"/>
                    </a:ext>
                  </a:extLst>
                </a:gridCol>
                <a:gridCol w="1964267">
                  <a:extLst>
                    <a:ext uri="{9D8B030D-6E8A-4147-A177-3AD203B41FA5}">
                      <a16:colId xmlns:a16="http://schemas.microsoft.com/office/drawing/2014/main" val="58550296"/>
                    </a:ext>
                  </a:extLst>
                </a:gridCol>
              </a:tblGrid>
              <a:tr h="253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CGPA&gt;8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Internship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Placed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50872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046427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371864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73030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565288"/>
                  </a:ext>
                </a:extLst>
              </a:tr>
              <a:tr h="2538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960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339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DC7AD-355E-24BA-CA95-34A8B25D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6BD1-F86F-5A70-AB67-BF666CAA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D7775-AD41-EC16-9DA8-17D3364E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CDF51C-5321-5443-B082-3A5FB872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r>
              <a:rPr lang="en-IN" sz="1600" dirty="0"/>
              <a:t>PROBLEM STATEMENT-Placement Prediction DATASET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US" sz="1600" b="1" dirty="0"/>
              <a:t>Step 3 – Split on Internship</a:t>
            </a:r>
          </a:p>
          <a:p>
            <a:r>
              <a:rPr lang="en-US" sz="1600" dirty="0"/>
              <a:t>Compute similarly → IG smaller.</a:t>
            </a:r>
          </a:p>
          <a:p>
            <a:r>
              <a:rPr lang="en-US" sz="1600" dirty="0"/>
              <a:t> So </a:t>
            </a:r>
            <a:r>
              <a:rPr lang="en-US" sz="1600" b="1" dirty="0"/>
              <a:t>CGPA is best root</a:t>
            </a:r>
            <a:r>
              <a:rPr lang="en-US" sz="1600" dirty="0"/>
              <a:t>.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0A5633-16DB-A62F-2496-5380B87FC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35208"/>
            <a:ext cx="523875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78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56E0-0A9C-C535-EFB8-EAE848A0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525D-7EF6-3E81-A391-5D4AF0936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3859E-2F79-FEE7-ED0C-D0FAAC55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B75EC-E3FA-DBF7-ABC3-63E9A047C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OVERFITTING &amp; PRUNING IN DECISION TREES</a:t>
            </a:r>
            <a:endParaRPr lang="en-IN" sz="1600" b="1" dirty="0"/>
          </a:p>
          <a:p>
            <a:r>
              <a:rPr lang="en-US" sz="1600" b="1" dirty="0"/>
              <a:t>Overfitting</a:t>
            </a:r>
            <a:r>
              <a:rPr lang="en-US" sz="1600" dirty="0"/>
              <a:t> happens when a model learns the </a:t>
            </a:r>
            <a:r>
              <a:rPr lang="en-US" sz="1600" b="1" dirty="0"/>
              <a:t>training data too perfectly</a:t>
            </a:r>
            <a:r>
              <a:rPr lang="en-US" sz="1600" dirty="0"/>
              <a:t>, including noise and random patterns.</a:t>
            </a:r>
          </a:p>
          <a:p>
            <a:pPr marL="0" indent="0">
              <a:buNone/>
            </a:pPr>
            <a:r>
              <a:rPr lang="en-US" sz="1600" dirty="0"/>
              <a:t>So it performs:</a:t>
            </a:r>
          </a:p>
          <a:p>
            <a:r>
              <a:rPr lang="en-US" sz="1600" dirty="0"/>
              <a:t>Very high accuracy on training data</a:t>
            </a:r>
            <a:br>
              <a:rPr lang="en-US" sz="1600" dirty="0"/>
            </a:br>
            <a:r>
              <a:rPr lang="en-US" sz="1600" dirty="0"/>
              <a:t>Poor accuracy on new/test data</a:t>
            </a:r>
          </a:p>
          <a:p>
            <a:r>
              <a:rPr lang="en-US" sz="1600" dirty="0"/>
              <a:t>The model memorizes instead of learning.</a:t>
            </a:r>
          </a:p>
          <a:p>
            <a:r>
              <a:rPr lang="en-US" sz="1600" dirty="0"/>
              <a:t>Suppose student placement data has 100 students.</a:t>
            </a:r>
          </a:p>
          <a:p>
            <a:r>
              <a:rPr lang="en-US" sz="1600" dirty="0"/>
              <a:t>Model Result: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This means the tree memorized special cases like:</a:t>
            </a:r>
          </a:p>
          <a:p>
            <a:pPr marL="0" indent="0" algn="ctr">
              <a:buNone/>
            </a:pPr>
            <a:r>
              <a:rPr lang="en-US" sz="1600" b="1" dirty="0"/>
              <a:t>IF CGPA&gt;8 AND Internship=Yes AND Name=Ravi → Placed</a:t>
            </a:r>
          </a:p>
          <a:p>
            <a:r>
              <a:rPr lang="en-US" sz="1600" dirty="0"/>
              <a:t>Using </a:t>
            </a:r>
            <a:r>
              <a:rPr lang="en-US" sz="1600" b="1" dirty="0"/>
              <a:t>Name</a:t>
            </a:r>
            <a:r>
              <a:rPr lang="en-US" sz="1600" dirty="0"/>
              <a:t> is meaningless → Overfitting.</a:t>
            </a:r>
            <a:endParaRPr lang="en-US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A04BC7-C741-02F6-9ADC-B0F2D13DE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865209"/>
              </p:ext>
            </p:extLst>
          </p:nvPr>
        </p:nvGraphicFramePr>
        <p:xfrm>
          <a:off x="1550988" y="3452654"/>
          <a:ext cx="9823450" cy="1005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11725">
                  <a:extLst>
                    <a:ext uri="{9D8B030D-6E8A-4147-A177-3AD203B41FA5}">
                      <a16:colId xmlns:a16="http://schemas.microsoft.com/office/drawing/2014/main" val="1514047976"/>
                    </a:ext>
                  </a:extLst>
                </a:gridCol>
                <a:gridCol w="4911725">
                  <a:extLst>
                    <a:ext uri="{9D8B030D-6E8A-4147-A177-3AD203B41FA5}">
                      <a16:colId xmlns:a16="http://schemas.microsoft.com/office/drawing/2014/main" val="5613953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821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466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55%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53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209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66C5-EA11-DA45-7FC4-1712CE33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2B97D-0860-13BA-7327-40634E94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FFDB6-4F0D-460D-678D-3CE3AEECD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35100-AA62-80FB-98D9-B8F528129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OVERFITTING &amp; PRUNING IN</a:t>
            </a:r>
          </a:p>
          <a:p>
            <a:pPr marL="0" indent="0">
              <a:buNone/>
            </a:pPr>
            <a:r>
              <a:rPr lang="en-US" sz="1600" b="1" dirty="0"/>
              <a:t> DECISION TREES</a:t>
            </a:r>
            <a:endParaRPr lang="en-IN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4CD6BA-AD0D-7DB6-4008-1E8106CAF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650" y="756126"/>
            <a:ext cx="5345430" cy="534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04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C5593-FC07-A46A-60F2-1495E282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1E67-DE48-1A3A-D590-4EBE41C3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73303-2099-F70B-E4BF-7BB05C0E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456EDF-2024-78A5-31F7-00631877B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OVERFITTING &amp; PRUNING IN DECISION TREES</a:t>
            </a:r>
            <a:endParaRPr lang="en-IN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BCD0C3-B201-4731-A8AC-3BB2959B115B}"/>
              </a:ext>
            </a:extLst>
          </p:cNvPr>
          <p:cNvSpPr txBox="1"/>
          <p:nvPr/>
        </p:nvSpPr>
        <p:spPr>
          <a:xfrm>
            <a:off x="1391920" y="1254234"/>
            <a:ext cx="104881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WHY OVERFITTING HAPPENS IN DECISION TREES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Decision Trees keep splitting until nodes are pure.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This can create: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Very deep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Too many branches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Splits based on noise</a:t>
            </a:r>
          </a:p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Causes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Small dataset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Too many features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No pruning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Outliers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Imbalanced data</a:t>
            </a:r>
          </a:p>
          <a:p>
            <a:pPr>
              <a:buNone/>
            </a:pPr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EFFECTS OF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 Poor prediction on new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 High variance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 Complex tree hard to interpret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 Wasted computation</a:t>
            </a:r>
          </a:p>
        </p:txBody>
      </p:sp>
    </p:spTree>
    <p:extLst>
      <p:ext uri="{BB962C8B-B14F-4D97-AF65-F5344CB8AC3E}">
        <p14:creationId xmlns:p14="http://schemas.microsoft.com/office/powerpoint/2010/main" val="3294858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09FCB-BD11-002B-ACB4-1B03023E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F76D-601B-095D-A32B-4E3E5201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EC50A-0655-E465-19BF-A1E03458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101CD-BC10-51A3-BB74-ECC6E2A5C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OVERFITTING &amp; PRUNING IN DECISION TREES</a:t>
            </a:r>
            <a:endParaRPr lang="en-IN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AC533-7D84-4C83-271C-6535AC62ACA2}"/>
              </a:ext>
            </a:extLst>
          </p:cNvPr>
          <p:cNvSpPr txBox="1"/>
          <p:nvPr/>
        </p:nvSpPr>
        <p:spPr>
          <a:xfrm>
            <a:off x="1480312" y="1093371"/>
            <a:ext cx="104881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>
                <a:solidFill>
                  <a:srgbClr val="002060"/>
                </a:solidFill>
                <a:latin typeface="Montserrat" panose="00000500000000000000" pitchFamily="2" charset="0"/>
              </a:rPr>
              <a:t>SOLUTIONS TO OVERFITTING</a:t>
            </a:r>
          </a:p>
          <a:p>
            <a:r>
              <a:rPr lang="en-IN" sz="1600" b="1">
                <a:solidFill>
                  <a:srgbClr val="002060"/>
                </a:solidFill>
                <a:latin typeface="Montserrat" panose="00000500000000000000" pitchFamily="2" charset="0"/>
              </a:rPr>
              <a:t>1. LIMIT TREE DEPTH</a:t>
            </a:r>
          </a:p>
          <a:p>
            <a:r>
              <a:rPr lang="en-IN" sz="1600" b="1">
                <a:solidFill>
                  <a:srgbClr val="002060"/>
                </a:solidFill>
                <a:latin typeface="Montserrat" panose="00000500000000000000" pitchFamily="2" charset="0"/>
              </a:rPr>
              <a:t>Depth</a:t>
            </a:r>
          </a:p>
          <a:p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Depth = number of levels from root to leaf.</a:t>
            </a:r>
          </a:p>
          <a:p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Example:</a:t>
            </a:r>
          </a:p>
          <a:p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Depth 1 → Only 1 split</a:t>
            </a:r>
            <a:b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Depth 10 → Many splits</a:t>
            </a:r>
          </a:p>
          <a:p>
            <a:b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</a:br>
            <a:endParaRPr lang="en-IN" sz="160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r>
              <a:rPr lang="en-IN" sz="1600" b="1">
                <a:solidFill>
                  <a:srgbClr val="002060"/>
                </a:solidFill>
                <a:latin typeface="Montserrat" panose="00000500000000000000" pitchFamily="2" charset="0"/>
              </a:rPr>
              <a:t>Why Limit Depth?</a:t>
            </a:r>
          </a:p>
          <a:p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Deep tree learns noise.</a:t>
            </a:r>
          </a:p>
          <a:p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So we stop tree early.</a:t>
            </a:r>
          </a:p>
          <a:p>
            <a:b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</a:br>
            <a:endParaRPr lang="en-IN" sz="160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r>
              <a:rPr lang="en-IN" sz="1600" b="1">
                <a:solidFill>
                  <a:srgbClr val="002060"/>
                </a:solidFill>
                <a:latin typeface="Montserrat" panose="00000500000000000000" pitchFamily="2" charset="0"/>
              </a:rPr>
              <a:t>Example</a:t>
            </a:r>
          </a:p>
          <a:p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Dataset of 50 students.</a:t>
            </a:r>
          </a:p>
          <a:p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Depth=1 accuracy → 70%</a:t>
            </a:r>
            <a:b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Depth=5 accuracy → 85%</a:t>
            </a:r>
            <a:b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Depth=20 accuracy → 100% training but 60% test</a:t>
            </a:r>
          </a:p>
          <a:p>
            <a:r>
              <a:rPr lang="en-IN" sz="160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IN" sz="1600" b="1">
                <a:solidFill>
                  <a:srgbClr val="002060"/>
                </a:solidFill>
                <a:latin typeface="Montserrat" panose="00000500000000000000" pitchFamily="2" charset="0"/>
              </a:rPr>
              <a:t>Best depth ≈ 5</a:t>
            </a:r>
          </a:p>
          <a:p>
            <a:pPr>
              <a:buNone/>
            </a:pPr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4C328-731E-737D-993B-7A061ABE7DCE}"/>
              </a:ext>
            </a:extLst>
          </p:cNvPr>
          <p:cNvSpPr txBox="1"/>
          <p:nvPr/>
        </p:nvSpPr>
        <p:spPr>
          <a:xfrm>
            <a:off x="6827520" y="43351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Limiting depth reduces overfitting</a:t>
            </a:r>
            <a:b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Makes tree simple &amp; interpretable</a:t>
            </a:r>
            <a:endParaRPr lang="en-IN" sz="1600" b="1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284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C97E-0C6D-098F-0532-F29D41DC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2B9B-5D1A-749E-2DD3-21F6376E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B2AD9-E6CF-47A6-8BF6-B00727DB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D0B0A-BA89-D685-7C4D-F0BF750F5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OVERFITTING &amp; PRUNING IN DECISION TREES</a:t>
            </a:r>
            <a:endParaRPr lang="en-IN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30E4E-444C-7805-AB1D-1EB724072F24}"/>
              </a:ext>
            </a:extLst>
          </p:cNvPr>
          <p:cNvSpPr txBox="1"/>
          <p:nvPr/>
        </p:nvSpPr>
        <p:spPr>
          <a:xfrm>
            <a:off x="1480312" y="1035208"/>
            <a:ext cx="10488168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SOLUTIONS TO OVERFITTING</a:t>
            </a:r>
          </a:p>
          <a:p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2. MINIMUM SAMPLES PER LEAF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A </a:t>
            </a: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leaf node</a:t>
            </a: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 should have enough data.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If leaf has only 1 sample → memorization.</a:t>
            </a:r>
          </a:p>
          <a:p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Example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If tree splits until each leaf has 1 student:</a:t>
            </a:r>
          </a:p>
          <a:p>
            <a:pPr algn="ctr"/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IF </a:t>
            </a:r>
            <a:r>
              <a:rPr lang="en-US" sz="1600" b="1" dirty="0" err="1">
                <a:solidFill>
                  <a:srgbClr val="002060"/>
                </a:solidFill>
                <a:latin typeface="Montserrat" panose="00000500000000000000" pitchFamily="2" charset="0"/>
              </a:rPr>
              <a:t>RollNo</a:t>
            </a: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=24BAD042 → Pass</a:t>
            </a:r>
          </a:p>
          <a:p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Not useful.</a:t>
            </a:r>
          </a:p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Solution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Set minimum samples.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Example:</a:t>
            </a:r>
          </a:p>
          <a:p>
            <a:pPr algn="ctr">
              <a:buNone/>
            </a:pPr>
            <a:r>
              <a:rPr lang="en-US" sz="1600" b="1" dirty="0" err="1">
                <a:solidFill>
                  <a:srgbClr val="002060"/>
                </a:solidFill>
                <a:latin typeface="Montserrat" panose="00000500000000000000" pitchFamily="2" charset="0"/>
              </a:rPr>
              <a:t>min_samples_leaf</a:t>
            </a: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 = 5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Means each leaf must have at least 5 records.</a:t>
            </a:r>
          </a:p>
          <a:p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Effect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Reduces noise</a:t>
            </a:r>
            <a:b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 Smooth predictions</a:t>
            </a:r>
            <a:b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 Better generalization</a:t>
            </a:r>
          </a:p>
          <a:p>
            <a:pPr>
              <a:buNone/>
            </a:pPr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33B42-E62E-6BA3-D0F9-AFF85E9E7A49}"/>
              </a:ext>
            </a:extLst>
          </p:cNvPr>
          <p:cNvSpPr txBox="1"/>
          <p:nvPr/>
        </p:nvSpPr>
        <p:spPr>
          <a:xfrm>
            <a:off x="6463284" y="478932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EXAMPLE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Dataset = 100 students.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Without rule → 100 leaves</a:t>
            </a:r>
            <a:b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With </a:t>
            </a:r>
            <a:r>
              <a:rPr lang="en-US" sz="1600" dirty="0" err="1">
                <a:solidFill>
                  <a:srgbClr val="002060"/>
                </a:solidFill>
                <a:latin typeface="Montserrat" panose="00000500000000000000" pitchFamily="2" charset="0"/>
              </a:rPr>
              <a:t>min_samples_leaf</a:t>
            </a: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=10 → only 10 leaves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Tree becomes stable.</a:t>
            </a:r>
          </a:p>
        </p:txBody>
      </p:sp>
    </p:spTree>
    <p:extLst>
      <p:ext uri="{BB962C8B-B14F-4D97-AF65-F5344CB8AC3E}">
        <p14:creationId xmlns:p14="http://schemas.microsoft.com/office/powerpoint/2010/main" val="55916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FAD70-A975-56D1-D930-6D6594FD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672F3-EF74-0C1E-4AA9-FCD310C6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805E2-C348-9792-290F-48B817AB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A5C85-6727-4542-3FD6-7CE65C9E2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OVERFITTING &amp; PRUNING IN DECISION TREES</a:t>
            </a:r>
            <a:endParaRPr lang="en-IN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98FB7-E206-9436-58E9-9428C17372AB}"/>
              </a:ext>
            </a:extLst>
          </p:cNvPr>
          <p:cNvSpPr txBox="1"/>
          <p:nvPr/>
        </p:nvSpPr>
        <p:spPr>
          <a:xfrm>
            <a:off x="1480312" y="1035208"/>
            <a:ext cx="453440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SOLUTIONS TO OVERFITTING</a:t>
            </a:r>
          </a:p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3. PRUNING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Pruning = Cutting unnecessary branches.</a:t>
            </a:r>
          </a:p>
          <a:p>
            <a:b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Types of Pruning</a:t>
            </a:r>
          </a:p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1. Pre-Pruning (Early Stopping)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Stop tree before it becomes too deep.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Conditions:</a:t>
            </a:r>
          </a:p>
          <a:p>
            <a:r>
              <a:rPr lang="en-IN" sz="1600" dirty="0" err="1">
                <a:solidFill>
                  <a:srgbClr val="002060"/>
                </a:solidFill>
                <a:latin typeface="Montserrat" panose="00000500000000000000" pitchFamily="2" charset="0"/>
              </a:rPr>
              <a:t>max_depth</a:t>
            </a:r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r>
              <a:rPr lang="en-IN" sz="1600" dirty="0" err="1">
                <a:solidFill>
                  <a:srgbClr val="002060"/>
                </a:solidFill>
                <a:latin typeface="Montserrat" panose="00000500000000000000" pitchFamily="2" charset="0"/>
              </a:rPr>
              <a:t>min_samples_split</a:t>
            </a:r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r>
              <a:rPr lang="en-IN" sz="1600" dirty="0" err="1">
                <a:solidFill>
                  <a:srgbClr val="002060"/>
                </a:solidFill>
                <a:latin typeface="Montserrat" panose="00000500000000000000" pitchFamily="2" charset="0"/>
              </a:rPr>
              <a:t>min_samples_leaf</a:t>
            </a:r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r>
              <a:rPr lang="en-IN" sz="1600" dirty="0" err="1">
                <a:solidFill>
                  <a:srgbClr val="002060"/>
                </a:solidFill>
                <a:latin typeface="Montserrat" panose="00000500000000000000" pitchFamily="2" charset="0"/>
              </a:rPr>
              <a:t>min_information_gain</a:t>
            </a:r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Example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Stop splitting if IG &lt; 0.01</a:t>
            </a:r>
          </a:p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Ignore weak splits.</a:t>
            </a:r>
          </a:p>
          <a:p>
            <a:pPr>
              <a:buNone/>
            </a:pPr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1A4D5F-E4DA-1713-7AFD-8652FE7B2031}"/>
              </a:ext>
            </a:extLst>
          </p:cNvPr>
          <p:cNvSpPr txBox="1"/>
          <p:nvPr/>
        </p:nvSpPr>
        <p:spPr>
          <a:xfrm>
            <a:off x="5872480" y="1035208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2.Post-Pruning (Reduced Error Pruning)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Build full tree first → then remove branches that don’t improve accuracy.</a:t>
            </a:r>
          </a:p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Steps: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Build full tree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Check each branch</a:t>
            </a:r>
          </a:p>
          <a:p>
            <a:pPr>
              <a:buFont typeface="+mj-lt"/>
              <a:buAutoNum type="arabicPeriod"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Remove if accuracy doesn’t drop</a:t>
            </a:r>
          </a:p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Example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Before pruning:</a:t>
            </a:r>
          </a:p>
          <a:p>
            <a:pPr algn="ctr" rtl="0"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CGPA&gt;8?</a:t>
            </a:r>
          </a:p>
          <a:p>
            <a:pPr algn="ctr" rtl="0"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 AND Internship=Yes?</a:t>
            </a:r>
          </a:p>
          <a:p>
            <a:pPr algn="ctr" rtl="0"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 AND Library&gt;3?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After pruning:</a:t>
            </a:r>
          </a:p>
          <a:p>
            <a:pPr algn="ctr" rtl="0"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CGPA&gt;8?</a:t>
            </a:r>
          </a:p>
          <a:p>
            <a:pPr algn="ctr" rtl="0"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 AND Internship=Yes?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Simpler and better.</a:t>
            </a:r>
          </a:p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Cost-Complexity Pruning (CART)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Minimize:</a:t>
            </a:r>
          </a:p>
          <a:p>
            <a:pPr algn="ctr"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Error + </a:t>
            </a:r>
            <a:r>
              <a:rPr lang="el-GR" sz="1600" b="1" dirty="0">
                <a:solidFill>
                  <a:srgbClr val="002060"/>
                </a:solidFill>
              </a:rPr>
              <a:t>α × </a:t>
            </a: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Tree Size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Balances accuracy &amp; simplicity.</a:t>
            </a:r>
          </a:p>
        </p:txBody>
      </p:sp>
    </p:spTree>
    <p:extLst>
      <p:ext uri="{BB962C8B-B14F-4D97-AF65-F5344CB8AC3E}">
        <p14:creationId xmlns:p14="http://schemas.microsoft.com/office/powerpoint/2010/main" val="456383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1FAC-C017-1D33-2BC3-E4302462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369D-05DA-9651-0CB0-30FAF32B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DECISION TREE CLASSIFIERS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D6E1C-C768-1FDB-83E2-0A8439EB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EC62A-E65F-BC53-28CF-477328884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OVERFITTING &amp; PRUNING IN DECISION TREES</a:t>
            </a:r>
            <a:endParaRPr lang="en-IN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E0017-BA1C-DEC4-DEF4-C03BBE59F47F}"/>
              </a:ext>
            </a:extLst>
          </p:cNvPr>
          <p:cNvSpPr txBox="1"/>
          <p:nvPr/>
        </p:nvSpPr>
        <p:spPr>
          <a:xfrm>
            <a:off x="1480312" y="1035208"/>
            <a:ext cx="381304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SOLUTIONS TO OVERFITTING</a:t>
            </a:r>
          </a:p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4. CROSS-VALIDATION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Cross-validation tests model on multiple splits.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Common method → </a:t>
            </a: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k-fold cross-validation</a:t>
            </a:r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b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Steps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Split data into k parts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Train on k-1 parts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Test on remaining part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Repeat k times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Take average accuracy</a:t>
            </a:r>
          </a:p>
          <a:p>
            <a:b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endParaRPr lang="en-IN" sz="1600" b="1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D7F77-12D5-29B8-17BD-20DDF315CDF7}"/>
              </a:ext>
            </a:extLst>
          </p:cNvPr>
          <p:cNvSpPr txBox="1"/>
          <p:nvPr/>
        </p:nvSpPr>
        <p:spPr>
          <a:xfrm>
            <a:off x="5720080" y="1117660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Example (k=5)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Data = 100 students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Each fold = 20 students.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Accuracy results: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70%, 72%, 75%, 71%, 74%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Average = 72.4%</a:t>
            </a:r>
          </a:p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Choose model with best average accuracy.</a:t>
            </a:r>
          </a:p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Why Useful?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 Detect overfitting</a:t>
            </a:r>
            <a:b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Choose best depth</a:t>
            </a:r>
            <a:b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Choose best parameters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EXAMPLE: 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College predicts pass/fail.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Tree depth 15 → 100% training accuracy</a:t>
            </a:r>
            <a:b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Test accuracy 58%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After pruning depth=4: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Training accuracy 88%</a:t>
            </a:r>
            <a:b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Test accuracy 84%</a:t>
            </a:r>
          </a:p>
          <a:p>
            <a:pPr algn="ctr"/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 Better generalization.</a:t>
            </a:r>
          </a:p>
          <a:p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658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08A1B-E1DC-2D36-8A24-60B5163B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B0543-130D-AF0C-CECD-1A9D02B9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DBE45-57BE-E12C-5B9E-2D4340FC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C9B029-E702-6E82-5643-0D39FC976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823704" cy="5496243"/>
          </a:xfrm>
        </p:spPr>
        <p:txBody>
          <a:bodyPr>
            <a:noAutofit/>
          </a:bodyPr>
          <a:lstStyle/>
          <a:p>
            <a:r>
              <a:rPr lang="en-US" sz="1600" dirty="0"/>
              <a:t>KNN works like </a:t>
            </a:r>
            <a:r>
              <a:rPr lang="en-US" sz="1600" b="1" dirty="0"/>
              <a:t>human reasoning</a:t>
            </a:r>
            <a:r>
              <a:rPr lang="en-US" sz="1600" dirty="0"/>
              <a:t>.</a:t>
            </a:r>
          </a:p>
          <a:p>
            <a:pPr marL="0" indent="0" algn="ctr">
              <a:buNone/>
            </a:pPr>
            <a:r>
              <a:rPr lang="en-US" sz="1600" dirty="0"/>
              <a:t> </a:t>
            </a:r>
            <a:r>
              <a:rPr lang="en-US" sz="1600" i="1" dirty="0"/>
              <a:t>“People similar to you behave like you.”</a:t>
            </a:r>
            <a:endParaRPr lang="en-US" sz="1600" dirty="0"/>
          </a:p>
          <a:p>
            <a:r>
              <a:rPr lang="en-US" sz="1600" dirty="0"/>
              <a:t>Example – Student prediction:</a:t>
            </a:r>
          </a:p>
          <a:p>
            <a:r>
              <a:rPr lang="en-US" sz="1600" dirty="0"/>
              <a:t>If most nearby students passed → You will pass.</a:t>
            </a:r>
          </a:p>
          <a:p>
            <a:r>
              <a:rPr lang="en-US" sz="1600" dirty="0"/>
              <a:t>So prediction depends on </a:t>
            </a:r>
            <a:r>
              <a:rPr lang="en-US" sz="1600" b="1" dirty="0"/>
              <a:t>neighbors</a:t>
            </a:r>
            <a:r>
              <a:rPr lang="en-US" sz="1600" dirty="0"/>
              <a:t>.</a:t>
            </a:r>
          </a:p>
          <a:p>
            <a:r>
              <a:rPr lang="en-US" sz="1600" b="1" dirty="0"/>
              <a:t>Why called Lazy Learner?</a:t>
            </a:r>
          </a:p>
          <a:p>
            <a:r>
              <a:rPr lang="en-US" sz="1600" dirty="0"/>
              <a:t>Because KNN:</a:t>
            </a:r>
          </a:p>
          <a:p>
            <a:r>
              <a:rPr lang="en-US" sz="1600" dirty="0"/>
              <a:t>Does </a:t>
            </a:r>
            <a:r>
              <a:rPr lang="en-US" sz="1600" b="1" dirty="0"/>
              <a:t>no training</a:t>
            </a:r>
            <a:br>
              <a:rPr lang="en-US" sz="1600" dirty="0"/>
            </a:br>
            <a:r>
              <a:rPr lang="en-US" sz="1600" dirty="0"/>
              <a:t>Stores all data</a:t>
            </a:r>
            <a:br>
              <a:rPr lang="en-US" sz="1600" dirty="0"/>
            </a:br>
            <a:r>
              <a:rPr lang="en-US" sz="1600" dirty="0"/>
              <a:t>Predicts only when test data comes</a:t>
            </a:r>
          </a:p>
          <a:p>
            <a:pPr marL="0" indent="0">
              <a:buNone/>
            </a:pPr>
            <a:r>
              <a:rPr lang="en-US" sz="1600" dirty="0"/>
              <a:t>So memory heavy but simple.</a:t>
            </a:r>
          </a:p>
          <a:p>
            <a:r>
              <a:rPr lang="en-US" sz="1600" b="1" dirty="0"/>
              <a:t>Real-Life Examples</a:t>
            </a:r>
          </a:p>
          <a:p>
            <a:r>
              <a:rPr lang="en-US" sz="1600" dirty="0"/>
              <a:t>Movie recommendation</a:t>
            </a:r>
          </a:p>
          <a:p>
            <a:r>
              <a:rPr lang="en-US" sz="1600" dirty="0"/>
              <a:t>Image recognition</a:t>
            </a:r>
          </a:p>
          <a:p>
            <a:r>
              <a:rPr lang="en-US" sz="1600" dirty="0"/>
              <a:t>Spam detection</a:t>
            </a:r>
          </a:p>
          <a:p>
            <a:r>
              <a:rPr lang="en-US" sz="1600" dirty="0"/>
              <a:t>Medical diagnosis</a:t>
            </a:r>
          </a:p>
          <a:p>
            <a:r>
              <a:rPr lang="en-US" sz="1600" dirty="0"/>
              <a:t>Student performance prediction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045357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F77D-9601-5EE8-ACF4-6DAD60BC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62BC-070D-4BD0-A3FF-AEC403DF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34E1-D7F2-330F-4836-ACD825A6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771F4C-29B4-4140-D3E7-41D23E975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5061204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 KNN – STEP BY STEP</a:t>
            </a:r>
          </a:p>
          <a:p>
            <a:r>
              <a:rPr lang="en-US" sz="1600" dirty="0"/>
              <a:t>Suppose we want to predict Pass/Fail.</a:t>
            </a:r>
          </a:p>
          <a:p>
            <a:r>
              <a:rPr lang="en-US" sz="1600" dirty="0"/>
              <a:t>Steps:</a:t>
            </a:r>
          </a:p>
          <a:p>
            <a:r>
              <a:rPr lang="en-US" sz="1600" dirty="0"/>
              <a:t>Choose K (number of neighbors)</a:t>
            </a:r>
          </a:p>
          <a:p>
            <a:r>
              <a:rPr lang="en-US" sz="1600" dirty="0"/>
              <a:t>Measure distance from test point to all training points</a:t>
            </a:r>
          </a:p>
          <a:p>
            <a:r>
              <a:rPr lang="en-US" sz="1600" dirty="0"/>
              <a:t>Pick K nearest points</a:t>
            </a:r>
          </a:p>
          <a:p>
            <a:r>
              <a:rPr lang="en-US" sz="1600" dirty="0"/>
              <a:t>Majority vote</a:t>
            </a:r>
          </a:p>
          <a:p>
            <a:r>
              <a:rPr lang="en-US" sz="1600" dirty="0"/>
              <a:t>That class becomes prediction.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91F23-2C42-79E6-E749-A7D68A02C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156" y="501333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03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21C49-B76B-EB8C-D563-CCB2863C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FB09-CF89-E35E-B655-B0FB1289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96C92-85A4-D744-FD3D-0643230F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7C0018F-81DC-20C3-1B0E-AB5896E5EB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1432" y="680720"/>
                <a:ext cx="6495288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700" b="1" dirty="0"/>
                  <a:t> DISTANCE METRICS</a:t>
                </a:r>
              </a:p>
              <a:p>
                <a:pPr marL="0" indent="0">
                  <a:buNone/>
                </a:pPr>
                <a:r>
                  <a:rPr lang="en-IN" sz="1700" b="1" dirty="0"/>
                  <a:t>1. EUCLIDEAN DISTANCE</a:t>
                </a:r>
              </a:p>
              <a:p>
                <a:r>
                  <a:rPr lang="en-IN" sz="1700" dirty="0"/>
                  <a:t>Used for continuous data.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700" b="1" i="1"/>
                        <m:t>𝒅</m:t>
                      </m:r>
                      <m:r>
                        <a:rPr lang="en-IN" sz="1700" b="1"/>
                        <m:t>=</m:t>
                      </m:r>
                      <m:rad>
                        <m:radPr>
                          <m:degHide m:val="on"/>
                          <m:ctrlPr>
                            <a:rPr lang="ar-AE" sz="1700" b="1" i="1"/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700" b="1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700" b="1" i="1"/>
                                  </m:ctrlPr>
                                </m:sSubPr>
                                <m:e>
                                  <m:r>
                                    <a:rPr lang="ar-AE" sz="1700" b="1" i="1"/>
                                    <m:t>𝒙</m:t>
                                  </m:r>
                                </m:e>
                                <m:sub>
                                  <m:r>
                                    <a:rPr lang="ar-AE" sz="1700" b="1" i="1"/>
                                    <m:t>𝟏</m:t>
                                  </m:r>
                                </m:sub>
                              </m:sSub>
                              <m:r>
                                <a:rPr lang="ar-AE" sz="1700" b="1"/>
                                <m:t>−</m:t>
                              </m:r>
                              <m:sSub>
                                <m:sSubPr>
                                  <m:ctrlPr>
                                    <a:rPr lang="ar-AE" sz="1700" b="1" i="1"/>
                                  </m:ctrlPr>
                                </m:sSubPr>
                                <m:e>
                                  <m:r>
                                    <a:rPr lang="ar-AE" sz="1700" b="1" i="1"/>
                                    <m:t>𝒙</m:t>
                                  </m:r>
                                </m:e>
                                <m:sub>
                                  <m:r>
                                    <a:rPr lang="ar-AE" sz="1700" b="1" i="1"/>
                                    <m:t>𝟐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700" b="1" i="1"/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700" b="1" i="1"/>
                                      </m:ctrlPr>
                                    </m:dPr>
                                    <m:e>
                                      <m:r>
                                        <a:rPr lang="ar-AE" sz="1700" b="1"/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700" b="1" i="1"/>
                                    <m:t>𝟐</m:t>
                                  </m:r>
                                </m:sup>
                              </m:sSup>
                              <m:r>
                                <a:rPr lang="ar-AE" sz="1700" b="1"/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700" b="1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1700" b="1" i="1"/>
                                      </m:ctrlPr>
                                    </m:sSubPr>
                                    <m:e>
                                      <m:r>
                                        <a:rPr lang="ar-AE" sz="1700" b="1" i="1"/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ar-AE" sz="1700" b="1" i="1"/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ar-AE" sz="1700" b="1"/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700" b="1" i="1"/>
                                      </m:ctrlPr>
                                    </m:sSubPr>
                                    <m:e>
                                      <m:r>
                                        <a:rPr lang="ar-AE" sz="1700" b="1" i="1"/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ar-AE" sz="1700" b="1" i="1"/>
                                        <m:t>𝟐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sz="1700" b="1" i="1"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700" b="1" i="1"/>
                                          </m:ctrlPr>
                                        </m:dPr>
                                        <m:e>
                                          <m:r>
                                            <a:rPr lang="ar-AE" sz="1700" b="1"/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700" b="1" i="1"/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ar-AE" sz="1700" b="1" dirty="0"/>
              </a:p>
              <a:p>
                <a:r>
                  <a:rPr lang="en-IN" sz="1700" dirty="0"/>
                  <a:t>Example:</a:t>
                </a:r>
              </a:p>
              <a:p>
                <a:r>
                  <a:rPr lang="en-IN" sz="1700" dirty="0"/>
                  <a:t>(2,3) and (5,7)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700" b="1"/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700" b="1"/>
                              </m:ctrlPr>
                            </m:dPr>
                            <m:e>
                              <m:r>
                                <a:rPr lang="ar-AE" sz="1700" b="1" i="1"/>
                                <m:t>𝟑</m:t>
                              </m:r>
                              <m:sSup>
                                <m:sSupPr>
                                  <m:ctrlPr>
                                    <a:rPr lang="ar-AE" sz="1700" b="1" i="1"/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700" b="1" i="1"/>
                                      </m:ctrlPr>
                                    </m:dPr>
                                    <m:e>
                                      <m:r>
                                        <a:rPr lang="ar-AE" sz="1700" b="1"/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700" b="1" i="1"/>
                                    <m:t>𝟐</m:t>
                                  </m:r>
                                </m:sup>
                              </m:sSup>
                              <m:r>
                                <a:rPr lang="ar-AE" sz="1700" b="1"/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700" b="1" i="1"/>
                                  </m:ctrlPr>
                                </m:dPr>
                                <m:e>
                                  <m:r>
                                    <a:rPr lang="ar-AE" sz="1700" b="1" i="1"/>
                                    <m:t>𝟒</m:t>
                                  </m:r>
                                  <m:sSup>
                                    <m:sSupPr>
                                      <m:ctrlPr>
                                        <a:rPr lang="ar-AE" sz="1700" b="1" i="1"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700" b="1" i="1"/>
                                          </m:ctrlPr>
                                        </m:dPr>
                                        <m:e>
                                          <m:r>
                                            <a:rPr lang="ar-AE" sz="1700" b="1"/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700" b="1" i="1"/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  <m:r>
                        <a:rPr lang="ar-AE" sz="1700" b="1"/>
                        <m:t>=</m:t>
                      </m:r>
                      <m:r>
                        <a:rPr lang="ar-AE" sz="1700" b="1" i="1"/>
                        <m:t>𝟓</m:t>
                      </m:r>
                    </m:oMath>
                  </m:oMathPara>
                </a14:m>
                <a:endParaRPr lang="ar-AE" sz="1700" b="1" dirty="0"/>
              </a:p>
              <a:p>
                <a:pPr marL="0" indent="0">
                  <a:buNone/>
                </a:pPr>
                <a:r>
                  <a:rPr lang="en-IN" sz="1700" dirty="0"/>
                  <a:t> </a:t>
                </a:r>
                <a:r>
                  <a:rPr lang="en-IN" sz="1700" b="1" dirty="0"/>
                  <a:t>Straight line distance</a:t>
                </a:r>
                <a:r>
                  <a:rPr lang="en-IN" sz="1700" dirty="0"/>
                  <a:t>.</a:t>
                </a:r>
              </a:p>
              <a:p>
                <a:pPr marL="0" indent="0">
                  <a:buNone/>
                </a:pPr>
                <a:r>
                  <a:rPr lang="en-IN" sz="1700" b="1" dirty="0"/>
                  <a:t>2. MANHATTAN DISTANCE</a:t>
                </a:r>
              </a:p>
              <a:p>
                <a:r>
                  <a:rPr lang="en-IN" sz="1700" dirty="0"/>
                  <a:t>City-block distance.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700" b="1" i="1"/>
                        <m:t>𝒅</m:t>
                      </m:r>
                      <m:r>
                        <a:rPr lang="en-IN" sz="1700" b="1"/>
                        <m:t>=∣</m:t>
                      </m:r>
                      <m:sSub>
                        <m:sSubPr>
                          <m:ctrlPr>
                            <a:rPr lang="ar-AE" sz="1700" b="1" i="1"/>
                          </m:ctrlPr>
                        </m:sSubPr>
                        <m:e>
                          <m:r>
                            <a:rPr lang="ar-AE" sz="1700" b="1" i="1"/>
                            <m:t>𝒙</m:t>
                          </m:r>
                        </m:e>
                        <m:sub>
                          <m:r>
                            <a:rPr lang="ar-AE" sz="1700" b="1" i="1"/>
                            <m:t>𝟏</m:t>
                          </m:r>
                        </m:sub>
                      </m:sSub>
                      <m:r>
                        <a:rPr lang="ar-AE" sz="1700" b="1"/>
                        <m:t>−</m:t>
                      </m:r>
                      <m:sSub>
                        <m:sSubPr>
                          <m:ctrlPr>
                            <a:rPr lang="ar-AE" sz="1700" b="1" i="1"/>
                          </m:ctrlPr>
                        </m:sSubPr>
                        <m:e>
                          <m:r>
                            <a:rPr lang="ar-AE" sz="1700" b="1" i="1"/>
                            <m:t>𝒙</m:t>
                          </m:r>
                        </m:e>
                        <m:sub>
                          <m:r>
                            <a:rPr lang="ar-AE" sz="1700" b="1" i="1"/>
                            <m:t>𝟐</m:t>
                          </m:r>
                        </m:sub>
                      </m:sSub>
                      <m:r>
                        <a:rPr lang="ar-AE" sz="1700" b="1"/>
                        <m:t>∣+∣</m:t>
                      </m:r>
                      <m:sSub>
                        <m:sSubPr>
                          <m:ctrlPr>
                            <a:rPr lang="ar-AE" sz="1700" b="1" i="1"/>
                          </m:ctrlPr>
                        </m:sSubPr>
                        <m:e>
                          <m:r>
                            <a:rPr lang="ar-AE" sz="1700" b="1" i="1"/>
                            <m:t>𝒚</m:t>
                          </m:r>
                        </m:e>
                        <m:sub>
                          <m:r>
                            <a:rPr lang="ar-AE" sz="1700" b="1" i="1"/>
                            <m:t>𝟏</m:t>
                          </m:r>
                        </m:sub>
                      </m:sSub>
                      <m:r>
                        <a:rPr lang="ar-AE" sz="1700" b="1"/>
                        <m:t>−</m:t>
                      </m:r>
                      <m:sSub>
                        <m:sSubPr>
                          <m:ctrlPr>
                            <a:rPr lang="ar-AE" sz="1700" b="1" i="1"/>
                          </m:ctrlPr>
                        </m:sSubPr>
                        <m:e>
                          <m:r>
                            <a:rPr lang="ar-AE" sz="1700" b="1" i="1"/>
                            <m:t>𝒚</m:t>
                          </m:r>
                        </m:e>
                        <m:sub>
                          <m:r>
                            <a:rPr lang="ar-AE" sz="1700" b="1" i="1"/>
                            <m:t>𝟐</m:t>
                          </m:r>
                        </m:sub>
                      </m:sSub>
                      <m:r>
                        <a:rPr lang="ar-AE" sz="1700" b="1"/>
                        <m:t>∣</m:t>
                      </m:r>
                    </m:oMath>
                  </m:oMathPara>
                </a14:m>
                <a:endParaRPr lang="ar-AE" sz="1700" b="1" dirty="0"/>
              </a:p>
              <a:p>
                <a:r>
                  <a:rPr lang="en-IN" sz="1700" dirty="0"/>
                  <a:t>Example:</a:t>
                </a:r>
              </a:p>
              <a:p>
                <a:r>
                  <a:rPr lang="en-IN" sz="1700" dirty="0"/>
                  <a:t>(2,3) → (5,7)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700" b="1"/>
                        <m:t>=</m:t>
                      </m:r>
                      <m:r>
                        <a:rPr lang="en-IN" sz="1700" b="1" i="1"/>
                        <m:t>𝟑</m:t>
                      </m:r>
                      <m:r>
                        <a:rPr lang="en-IN" sz="1700" b="1"/>
                        <m:t>+</m:t>
                      </m:r>
                      <m:r>
                        <a:rPr lang="en-IN" sz="1700" b="1" i="1"/>
                        <m:t>𝟒</m:t>
                      </m:r>
                      <m:r>
                        <a:rPr lang="en-IN" sz="1700" b="1"/>
                        <m:t>=</m:t>
                      </m:r>
                      <m:r>
                        <a:rPr lang="en-IN" sz="1700" b="1" i="1"/>
                        <m:t>𝟕</m:t>
                      </m:r>
                    </m:oMath>
                  </m:oMathPara>
                </a14:m>
                <a:endParaRPr lang="en-IN" sz="1700" b="1" dirty="0"/>
              </a:p>
              <a:p>
                <a:pPr marL="0" indent="0">
                  <a:buNone/>
                </a:pPr>
                <a:r>
                  <a:rPr lang="en-IN" sz="1700" b="1" dirty="0"/>
                  <a:t>Move only horizontal/vertical</a:t>
                </a:r>
                <a:r>
                  <a:rPr lang="en-IN" sz="1700" dirty="0"/>
                  <a:t>.</a:t>
                </a:r>
              </a:p>
              <a:p>
                <a:pPr marL="0" indent="0">
                  <a:buNone/>
                </a:pPr>
                <a:endParaRPr lang="en-US" sz="1700" dirty="0"/>
              </a:p>
              <a:p>
                <a:endParaRPr lang="en-US" sz="1700" dirty="0"/>
              </a:p>
              <a:p>
                <a:endParaRPr lang="en-IN" sz="1700" dirty="0"/>
              </a:p>
              <a:p>
                <a:endParaRPr lang="en-IN" sz="1700" dirty="0"/>
              </a:p>
              <a:p>
                <a:endParaRPr lang="en-IN" sz="1700" b="1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7C0018F-81DC-20C3-1B0E-AB5896E5E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1432" y="680720"/>
                <a:ext cx="6495288" cy="5496243"/>
              </a:xfrm>
              <a:blipFill>
                <a:blip r:embed="rId3"/>
                <a:stretch>
                  <a:fillRect l="-657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C544BD-AD32-9966-7454-126C37E16A26}"/>
                  </a:ext>
                </a:extLst>
              </p:cNvPr>
              <p:cNvSpPr txBox="1"/>
              <p:nvPr/>
            </p:nvSpPr>
            <p:spPr>
              <a:xfrm>
                <a:off x="6463284" y="1949711"/>
                <a:ext cx="5373116" cy="2296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3. COSINE SIMILARITY</a:t>
                </a: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Used for text data.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ar-AE" sz="16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ar-AE" sz="16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num>
                        <m:den>
                          <m:r>
                            <a:rPr lang="ar-AE" sz="16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ar-AE" sz="16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∣∣</m:t>
                          </m:r>
                          <m:r>
                            <a:rPr lang="ar-AE" sz="16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ar-AE" sz="16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</m:oMath>
                  </m:oMathPara>
                </a14:m>
                <a:endParaRPr lang="ar-AE" sz="1600" b="1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Measures </a:t>
                </a: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angle</a:t>
                </a: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, not distance.</a:t>
                </a: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Used in: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Document similarity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Search engines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Recommendation systems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C544BD-AD32-9966-7454-126C37E16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284" y="1949711"/>
                <a:ext cx="5373116" cy="2296911"/>
              </a:xfrm>
              <a:prstGeom prst="rect">
                <a:avLst/>
              </a:prstGeom>
              <a:blipFill>
                <a:blip r:embed="rId4"/>
                <a:stretch>
                  <a:fillRect l="-567" t="-796" b="-23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392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7DE8-2067-22DB-6A85-0B880498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A893-FD4E-9879-D54F-98B6A217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4499A-863D-AEF5-BE51-01635FA47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EB3BA-05BD-8B53-001F-85066233B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695688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 </a:t>
            </a:r>
            <a:r>
              <a:rPr lang="en-IN" sz="1800" b="1" dirty="0"/>
              <a:t>PROBLEM STATEMENT KNN</a:t>
            </a:r>
            <a:endParaRPr lang="en-US" sz="1700" b="1" dirty="0"/>
          </a:p>
          <a:p>
            <a:r>
              <a:rPr lang="en-US" sz="1700" b="1" dirty="0"/>
              <a:t>Training Data</a:t>
            </a:r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r>
              <a:rPr lang="en-IN" sz="1800" dirty="0"/>
              <a:t>Test Student = (60,70)</a:t>
            </a:r>
            <a:br>
              <a:rPr lang="en-IN" sz="1800" dirty="0"/>
            </a:br>
            <a:r>
              <a:rPr lang="en-IN" sz="1800" dirty="0"/>
              <a:t>K = 3</a:t>
            </a:r>
          </a:p>
          <a:p>
            <a:endParaRPr lang="en-US" sz="1700" b="1" dirty="0"/>
          </a:p>
          <a:p>
            <a:endParaRPr lang="en-IN" sz="1700" dirty="0"/>
          </a:p>
          <a:p>
            <a:endParaRPr lang="en-IN" sz="1700" dirty="0"/>
          </a:p>
          <a:p>
            <a:endParaRPr lang="en-IN" sz="17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5310A9-3BAF-599A-B230-42EE1C170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243075"/>
              </p:ext>
            </p:extLst>
          </p:nvPr>
        </p:nvGraphicFramePr>
        <p:xfrm>
          <a:off x="3129281" y="1400334"/>
          <a:ext cx="8188959" cy="1676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29653">
                  <a:extLst>
                    <a:ext uri="{9D8B030D-6E8A-4147-A177-3AD203B41FA5}">
                      <a16:colId xmlns:a16="http://schemas.microsoft.com/office/drawing/2014/main" val="3277408926"/>
                    </a:ext>
                  </a:extLst>
                </a:gridCol>
                <a:gridCol w="2729653">
                  <a:extLst>
                    <a:ext uri="{9D8B030D-6E8A-4147-A177-3AD203B41FA5}">
                      <a16:colId xmlns:a16="http://schemas.microsoft.com/office/drawing/2014/main" val="1466991847"/>
                    </a:ext>
                  </a:extLst>
                </a:gridCol>
                <a:gridCol w="2729653">
                  <a:extLst>
                    <a:ext uri="{9D8B030D-6E8A-4147-A177-3AD203B41FA5}">
                      <a16:colId xmlns:a16="http://schemas.microsoft.com/office/drawing/2014/main" val="2901261453"/>
                    </a:ext>
                  </a:extLst>
                </a:gridCol>
              </a:tblGrid>
              <a:tr h="3173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406153"/>
                  </a:ext>
                </a:extLst>
              </a:tr>
              <a:tr h="3173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939711"/>
                  </a:ext>
                </a:extLst>
              </a:tr>
              <a:tr h="3173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269771"/>
                  </a:ext>
                </a:extLst>
              </a:tr>
              <a:tr h="3173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139987"/>
                  </a:ext>
                </a:extLst>
              </a:tr>
              <a:tr h="227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598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866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521A0-4CBA-A1C8-7BFB-F9C3BF37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00A4-7B2F-C1AE-E27E-0D324BCD2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82FAC-14F2-2FA0-AA82-08382744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083926-B131-D651-2727-F0148F370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695688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 </a:t>
            </a:r>
            <a:r>
              <a:rPr lang="en-IN" sz="1800" b="1" dirty="0"/>
              <a:t>PROBLEM STATEMENT KNN</a:t>
            </a:r>
            <a:endParaRPr lang="en-US" sz="1700" b="1" dirty="0"/>
          </a:p>
          <a:p>
            <a:r>
              <a:rPr lang="en-US" sz="1700" b="1" dirty="0"/>
              <a:t>Training Data</a:t>
            </a:r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r>
              <a:rPr lang="en-IN" sz="1800" dirty="0"/>
              <a:t>Test Student = (60,70)</a:t>
            </a:r>
            <a:br>
              <a:rPr lang="en-IN" sz="1800" dirty="0"/>
            </a:br>
            <a:r>
              <a:rPr lang="en-IN" sz="1800" dirty="0"/>
              <a:t>K = 3</a:t>
            </a:r>
          </a:p>
          <a:p>
            <a:endParaRPr lang="en-US" sz="1700" b="1" dirty="0"/>
          </a:p>
          <a:p>
            <a:endParaRPr lang="en-IN" sz="1700" dirty="0"/>
          </a:p>
          <a:p>
            <a:endParaRPr lang="en-IN" sz="1700" dirty="0"/>
          </a:p>
          <a:p>
            <a:endParaRPr lang="en-IN" sz="17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09BC92-E3A0-2C84-FF4A-EBD14D95B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486055"/>
              </p:ext>
            </p:extLst>
          </p:nvPr>
        </p:nvGraphicFramePr>
        <p:xfrm>
          <a:off x="1480312" y="1491774"/>
          <a:ext cx="4450080" cy="16984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83360">
                  <a:extLst>
                    <a:ext uri="{9D8B030D-6E8A-4147-A177-3AD203B41FA5}">
                      <a16:colId xmlns:a16="http://schemas.microsoft.com/office/drawing/2014/main" val="3277408926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1466991847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2901261453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406153"/>
                  </a:ext>
                </a:extLst>
              </a:tr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939711"/>
                  </a:ext>
                </a:extLst>
              </a:tr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269771"/>
                  </a:ext>
                </a:extLst>
              </a:tr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139987"/>
                  </a:ext>
                </a:extLst>
              </a:tr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59858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E1B2C5-AEA7-5E7C-ECAE-C5C38A6616A3}"/>
                  </a:ext>
                </a:extLst>
              </p:cNvPr>
              <p:cNvSpPr txBox="1"/>
              <p:nvPr/>
            </p:nvSpPr>
            <p:spPr>
              <a:xfrm>
                <a:off x="6228080" y="1191229"/>
                <a:ext cx="6096000" cy="4521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Step 1 – Distance Calculation</a:t>
                </a:r>
              </a:p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 Distance to (40,50)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sSup>
                                <m:sSup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70</m:t>
                                  </m:r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sSup>
                                    <m:sSupPr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6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6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800</m:t>
                          </m:r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br>
                  <a:rPr lang="ar-AE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</a:br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Distance to (45,60)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325</m:t>
                          </m:r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03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br>
                  <a:rPr lang="ar-AE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</a:br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ar-AE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 </a:t>
                </a: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Distance to (70,80)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br>
                  <a:rPr lang="ar-AE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</a:br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Distance to (80,90)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E1B2C5-AEA7-5E7C-ECAE-C5C38A661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080" y="1191229"/>
                <a:ext cx="6096000" cy="4521944"/>
              </a:xfrm>
              <a:prstGeom prst="rect">
                <a:avLst/>
              </a:prstGeom>
              <a:blipFill>
                <a:blip r:embed="rId3"/>
                <a:stretch>
                  <a:fillRect l="-700" t="-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827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A4E95-51BE-6B12-E3D3-D224CF37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E5E8-6736-A31E-C658-EC2E99B48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894B7-E8E4-6D9B-B296-966523E24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91BB9-FC37-AFB0-3E13-C134351C9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695688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 </a:t>
            </a:r>
            <a:r>
              <a:rPr lang="en-IN" sz="1800" b="1" dirty="0"/>
              <a:t>PROBLEM STATEMENT KNN</a:t>
            </a:r>
            <a:endParaRPr lang="en-US" sz="1700" b="1" dirty="0"/>
          </a:p>
          <a:p>
            <a:r>
              <a:rPr lang="en-US" sz="1700" b="1" dirty="0"/>
              <a:t>Training Data</a:t>
            </a:r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endParaRPr lang="en-US" sz="1700" b="1" dirty="0"/>
          </a:p>
          <a:p>
            <a:r>
              <a:rPr lang="en-IN" sz="1800" dirty="0"/>
              <a:t>Test Student = (60,70)</a:t>
            </a:r>
            <a:br>
              <a:rPr lang="en-IN" sz="1800" dirty="0"/>
            </a:br>
            <a:r>
              <a:rPr lang="en-IN" sz="1800" dirty="0"/>
              <a:t>K = 3</a:t>
            </a:r>
          </a:p>
          <a:p>
            <a:endParaRPr lang="en-US" sz="1700" b="1" dirty="0"/>
          </a:p>
          <a:p>
            <a:endParaRPr lang="en-IN" sz="1700" dirty="0"/>
          </a:p>
          <a:p>
            <a:endParaRPr lang="en-IN" sz="1700" dirty="0"/>
          </a:p>
          <a:p>
            <a:endParaRPr lang="en-IN" sz="1700" dirty="0"/>
          </a:p>
          <a:p>
            <a:endParaRPr lang="en-IN" sz="1700" dirty="0"/>
          </a:p>
          <a:p>
            <a:r>
              <a:rPr lang="en-US" sz="1800" dirty="0"/>
              <a:t>Nearest 3 → Pass, Fail, Fail</a:t>
            </a:r>
            <a:endParaRPr lang="en-IN" sz="1700" dirty="0"/>
          </a:p>
          <a:p>
            <a:endParaRPr lang="en-IN" sz="1700" dirty="0"/>
          </a:p>
          <a:p>
            <a:endParaRPr lang="en-IN" sz="17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53AF2A-24E0-E922-FAE4-0B478C453976}"/>
              </a:ext>
            </a:extLst>
          </p:cNvPr>
          <p:cNvGraphicFramePr>
            <a:graphicFrameLocks noGrp="1"/>
          </p:cNvGraphicFramePr>
          <p:nvPr/>
        </p:nvGraphicFramePr>
        <p:xfrm>
          <a:off x="1480312" y="1491774"/>
          <a:ext cx="4450080" cy="16984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83360">
                  <a:extLst>
                    <a:ext uri="{9D8B030D-6E8A-4147-A177-3AD203B41FA5}">
                      <a16:colId xmlns:a16="http://schemas.microsoft.com/office/drawing/2014/main" val="3277408926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1466991847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2901261453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Physics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406153"/>
                  </a:ext>
                </a:extLst>
              </a:tr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939711"/>
                  </a:ext>
                </a:extLst>
              </a:tr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269771"/>
                  </a:ext>
                </a:extLst>
              </a:tr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139987"/>
                  </a:ext>
                </a:extLst>
              </a:tr>
              <a:tr h="339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5985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40A7F5-268F-FB1B-FD71-6C0C489C972C}"/>
              </a:ext>
            </a:extLst>
          </p:cNvPr>
          <p:cNvSpPr txBox="1"/>
          <p:nvPr/>
        </p:nvSpPr>
        <p:spPr>
          <a:xfrm>
            <a:off x="6261610" y="303823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Step 2 – Sort Distances</a:t>
            </a:r>
          </a:p>
          <a:p>
            <a:pPr>
              <a:buNone/>
            </a:pPr>
            <a:endParaRPr lang="ar-AE" sz="1600" b="1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799C0E-D499-D8E5-C60C-4933CCB0F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721300"/>
              </p:ext>
            </p:extLst>
          </p:nvPr>
        </p:nvGraphicFramePr>
        <p:xfrm>
          <a:off x="4710748" y="3623007"/>
          <a:ext cx="6343332" cy="1676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1666">
                  <a:extLst>
                    <a:ext uri="{9D8B030D-6E8A-4147-A177-3AD203B41FA5}">
                      <a16:colId xmlns:a16="http://schemas.microsoft.com/office/drawing/2014/main" val="1239391865"/>
                    </a:ext>
                  </a:extLst>
                </a:gridCol>
                <a:gridCol w="3171666">
                  <a:extLst>
                    <a:ext uri="{9D8B030D-6E8A-4147-A177-3AD203B41FA5}">
                      <a16:colId xmlns:a16="http://schemas.microsoft.com/office/drawing/2014/main" val="122968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566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989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18.03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530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28.28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43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28.28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22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432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B990-E695-9098-B8DD-65EB9F8FF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64FE-FE40-F071-E98D-FF92540EF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0CE9D-5A43-1D2A-40A7-8B2215F8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97C74-B1B1-E4CD-CF9B-DDC751841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1432" y="680720"/>
            <a:ext cx="9695688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 </a:t>
            </a:r>
            <a:r>
              <a:rPr lang="en-IN" sz="1600" b="1" dirty="0"/>
              <a:t>PROBLEM STATEMENT KNN</a:t>
            </a:r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IN" sz="1600" dirty="0"/>
          </a:p>
          <a:p>
            <a:r>
              <a:rPr lang="en-US" sz="1600" b="1" dirty="0"/>
              <a:t>Step 3 – Majority Vote</a:t>
            </a:r>
          </a:p>
          <a:p>
            <a:r>
              <a:rPr lang="en-US" sz="1600" dirty="0"/>
              <a:t>Fail = 2</a:t>
            </a:r>
            <a:br>
              <a:rPr lang="en-US" sz="1600" dirty="0"/>
            </a:br>
            <a:r>
              <a:rPr lang="en-US" sz="1600" dirty="0"/>
              <a:t>Pass = 1</a:t>
            </a:r>
          </a:p>
          <a:p>
            <a:r>
              <a:rPr lang="en-US" sz="1600" dirty="0"/>
              <a:t>Prediction → </a:t>
            </a:r>
            <a:r>
              <a:rPr lang="en-US" sz="1600" b="1" dirty="0"/>
              <a:t>FAIL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Interpretation</a:t>
            </a:r>
          </a:p>
          <a:p>
            <a:r>
              <a:rPr lang="en-US" sz="1600" dirty="0"/>
              <a:t>Student performance similar to failing students.</a:t>
            </a:r>
          </a:p>
          <a:p>
            <a:r>
              <a:rPr lang="en-US" sz="1600" dirty="0"/>
              <a:t>So predicted Fail.</a:t>
            </a:r>
          </a:p>
          <a:p>
            <a:endParaRPr lang="en-IN" sz="1600" dirty="0"/>
          </a:p>
          <a:p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789EF-4E3B-DF28-0E3E-8B44A8E72934}"/>
              </a:ext>
            </a:extLst>
          </p:cNvPr>
          <p:cNvSpPr txBox="1"/>
          <p:nvPr/>
        </p:nvSpPr>
        <p:spPr>
          <a:xfrm>
            <a:off x="1786414" y="136225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Step 2 – Sort Distances</a:t>
            </a:r>
          </a:p>
          <a:p>
            <a:pPr>
              <a:buNone/>
            </a:pPr>
            <a:endParaRPr lang="ar-AE" sz="1600" b="1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7FF501-B1DA-903E-2746-C35168344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86573"/>
              </p:ext>
            </p:extLst>
          </p:nvPr>
        </p:nvGraphicFramePr>
        <p:xfrm>
          <a:off x="4710748" y="1209675"/>
          <a:ext cx="6343332" cy="17535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1666">
                  <a:extLst>
                    <a:ext uri="{9D8B030D-6E8A-4147-A177-3AD203B41FA5}">
                      <a16:colId xmlns:a16="http://schemas.microsoft.com/office/drawing/2014/main" val="1239391865"/>
                    </a:ext>
                  </a:extLst>
                </a:gridCol>
                <a:gridCol w="3171666">
                  <a:extLst>
                    <a:ext uri="{9D8B030D-6E8A-4147-A177-3AD203B41FA5}">
                      <a16:colId xmlns:a16="http://schemas.microsoft.com/office/drawing/2014/main" val="122968820"/>
                    </a:ext>
                  </a:extLst>
                </a:gridCol>
              </a:tblGrid>
              <a:tr h="4124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566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8989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18.03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530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28.28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43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28.28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22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304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036BB-786E-5CC1-E90D-45C535A4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67D79-92E8-1D8A-D2AC-35A1605B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A9F8E-70DF-C91D-9ED2-48C8084F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5391687-5669-6BBB-10E1-1B8F7FAC3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5440" y="680878"/>
                <a:ext cx="9695688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IN" sz="1600" b="1" dirty="0"/>
                  <a:t>KNN REGRESSION (Problem Statement)</a:t>
                </a:r>
              </a:p>
              <a:p>
                <a:r>
                  <a:rPr lang="en-IN" sz="1600" dirty="0"/>
                  <a:t>Predict salary.</a:t>
                </a:r>
              </a:p>
              <a:p>
                <a:r>
                  <a:rPr lang="en-IN" sz="1600" dirty="0"/>
                  <a:t>Nearest salaries:</a:t>
                </a:r>
              </a:p>
              <a:p>
                <a:r>
                  <a:rPr lang="en-IN" sz="1600" dirty="0"/>
                  <a:t>30k, 32k, 40k</a:t>
                </a:r>
              </a:p>
              <a:p>
                <a:r>
                  <a:rPr lang="en-IN" sz="1600" dirty="0"/>
                  <a:t>Prediction = Average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1600"/>
                          </m:ctrlPr>
                        </m:dPr>
                        <m:e>
                          <m:r>
                            <a:rPr lang="ar-AE" sz="1600"/>
                            <m:t>30</m:t>
                          </m:r>
                          <m:r>
                            <a:rPr lang="ar-AE" sz="1600"/>
                            <m:t>+</m:t>
                          </m:r>
                          <m:r>
                            <a:rPr lang="ar-AE" sz="1600"/>
                            <m:t>32</m:t>
                          </m:r>
                          <m:r>
                            <a:rPr lang="ar-AE" sz="1600"/>
                            <m:t>+</m:t>
                          </m:r>
                          <m:r>
                            <a:rPr lang="ar-AE" sz="1600"/>
                            <m:t>40</m:t>
                          </m:r>
                        </m:e>
                      </m:d>
                      <m:r>
                        <a:rPr lang="ar-AE" sz="1600"/>
                        <m:t>/</m:t>
                      </m:r>
                      <m:r>
                        <a:rPr lang="ar-AE" sz="1600"/>
                        <m:t>3</m:t>
                      </m:r>
                      <m:r>
                        <a:rPr lang="ar-AE" sz="1600"/>
                        <m:t>=</m:t>
                      </m:r>
                      <m:r>
                        <a:rPr lang="ar-AE" sz="1600"/>
                        <m:t>34</m:t>
                      </m:r>
                      <m:r>
                        <a:rPr lang="ar-AE" sz="1600" i="1"/>
                        <m:t>𝑘</m:t>
                      </m:r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KNN works for regression also.</a:t>
                </a:r>
              </a:p>
              <a:p>
                <a:pPr marL="0" indent="0">
                  <a:buNone/>
                </a:pPr>
                <a:r>
                  <a:rPr lang="en-IN" sz="1600" b="1" dirty="0"/>
                  <a:t>EFFECT OF K VALUE</a:t>
                </a:r>
              </a:p>
              <a:p>
                <a:pPr marL="0" indent="0">
                  <a:buNone/>
                </a:pPr>
                <a:endParaRPr lang="en-IN" sz="1600" b="1" dirty="0"/>
              </a:p>
              <a:p>
                <a:pPr marL="0" indent="0">
                  <a:buNone/>
                </a:pPr>
                <a:endParaRPr lang="en-IN" sz="1600" b="1" dirty="0"/>
              </a:p>
              <a:p>
                <a:pPr marL="0" indent="0">
                  <a:buNone/>
                </a:pPr>
                <a:endParaRPr lang="en-IN" sz="1600" b="1" dirty="0"/>
              </a:p>
              <a:p>
                <a:r>
                  <a:rPr lang="en-IN" sz="1600" b="1" dirty="0"/>
                  <a:t>Example</a:t>
                </a:r>
              </a:p>
              <a:p>
                <a:r>
                  <a:rPr lang="en-IN" sz="1600" dirty="0"/>
                  <a:t>Dataset has one wrong label.</a:t>
                </a:r>
              </a:p>
              <a:p>
                <a:r>
                  <a:rPr lang="en-IN" sz="1600" dirty="0"/>
                  <a:t>K=1 → Wrong prediction</a:t>
                </a:r>
                <a:br>
                  <a:rPr lang="en-IN" sz="1600" dirty="0"/>
                </a:br>
                <a:r>
                  <a:rPr lang="en-IN" sz="1600" dirty="0"/>
                  <a:t>K=5 → Correct prediction</a:t>
                </a:r>
              </a:p>
              <a:p>
                <a:r>
                  <a:rPr lang="en-IN" sz="1600" dirty="0"/>
                  <a:t> </a:t>
                </a:r>
                <a:r>
                  <a:rPr lang="en-IN" sz="1600" b="1" dirty="0"/>
                  <a:t>Small K → Overfitting</a:t>
                </a:r>
                <a:br>
                  <a:rPr lang="en-IN" sz="1600" b="1" dirty="0"/>
                </a:br>
                <a:r>
                  <a:rPr lang="en-IN" sz="1600" b="1" dirty="0"/>
                  <a:t> Large K → Underfitting</a:t>
                </a:r>
              </a:p>
              <a:p>
                <a:br>
                  <a:rPr lang="en-IN" sz="1600" dirty="0"/>
                </a:br>
                <a:endParaRPr lang="en-IN" sz="1600" dirty="0"/>
              </a:p>
              <a:p>
                <a:r>
                  <a:rPr lang="en-IN" sz="1600" dirty="0"/>
                  <a:t>.</a:t>
                </a:r>
              </a:p>
              <a:p>
                <a:pPr marL="0" indent="0">
                  <a:buNone/>
                </a:pPr>
                <a:endParaRPr lang="en-IN" sz="1600" b="1" dirty="0"/>
              </a:p>
              <a:p>
                <a:endParaRPr lang="en-IN" sz="1600" b="1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5391687-5669-6BBB-10E1-1B8F7FAC3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5440" y="680878"/>
                <a:ext cx="9695688" cy="5496243"/>
              </a:xfrm>
              <a:blipFill>
                <a:blip r:embed="rId3"/>
                <a:stretch>
                  <a:fillRect l="-314" t="-777" b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FDB114-8E55-DA1D-EC8F-81A6FA43A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602748"/>
              </p:ext>
            </p:extLst>
          </p:nvPr>
        </p:nvGraphicFramePr>
        <p:xfrm>
          <a:off x="4151948" y="3097054"/>
          <a:ext cx="5611812" cy="11396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05906">
                  <a:extLst>
                    <a:ext uri="{9D8B030D-6E8A-4147-A177-3AD203B41FA5}">
                      <a16:colId xmlns:a16="http://schemas.microsoft.com/office/drawing/2014/main" val="43380558"/>
                    </a:ext>
                  </a:extLst>
                </a:gridCol>
                <a:gridCol w="2805906">
                  <a:extLst>
                    <a:ext uri="{9D8B030D-6E8A-4147-A177-3AD203B41FA5}">
                      <a16:colId xmlns:a16="http://schemas.microsoft.com/office/drawing/2014/main" val="3262331985"/>
                    </a:ext>
                  </a:extLst>
                </a:gridCol>
              </a:tblGrid>
              <a:tr h="379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K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056051"/>
                  </a:ext>
                </a:extLst>
              </a:tr>
              <a:tr h="379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Small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Sensitive to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058666"/>
                  </a:ext>
                </a:extLst>
              </a:tr>
              <a:tr h="379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Large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Too smooth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49276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0132C54-F24B-44B7-7385-C4DEDA57B3FE}"/>
              </a:ext>
            </a:extLst>
          </p:cNvPr>
          <p:cNvSpPr txBox="1"/>
          <p:nvPr/>
        </p:nvSpPr>
        <p:spPr>
          <a:xfrm>
            <a:off x="6634480" y="474525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Best K Selection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Use Cross-Validation.</a:t>
            </a:r>
          </a:p>
          <a:p>
            <a: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  <a:t>Try K=1 to 20 → Choose best accuracy</a:t>
            </a:r>
          </a:p>
        </p:txBody>
      </p:sp>
    </p:spTree>
    <p:extLst>
      <p:ext uri="{BB962C8B-B14F-4D97-AF65-F5344CB8AC3E}">
        <p14:creationId xmlns:p14="http://schemas.microsoft.com/office/powerpoint/2010/main" val="845190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70FBE-F1A4-0EDE-9F85-B2E6ADE8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6102-94D2-2E08-B363-A6943584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1B4D3-E51B-3E0F-2959-7297D443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242C321-F984-C12F-BAF2-C3495BBA3A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5440" y="680878"/>
                <a:ext cx="9695688" cy="549624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NORMALIZATION IN KNN</a:t>
                </a:r>
              </a:p>
              <a:p>
                <a:r>
                  <a:rPr lang="en-US" sz="1600" dirty="0"/>
                  <a:t>Very important!</a:t>
                </a:r>
              </a:p>
              <a:p>
                <a:r>
                  <a:rPr lang="en-US" sz="1600" dirty="0"/>
                  <a:t>Because KNN uses distance.</a:t>
                </a:r>
              </a:p>
              <a:p>
                <a:r>
                  <a:rPr lang="en-US" sz="1600" dirty="0"/>
                  <a:t>If one feature has large scale → dominates.</a:t>
                </a:r>
              </a:p>
              <a:p>
                <a:pPr marL="0" indent="0">
                  <a:buNone/>
                </a:pPr>
                <a:r>
                  <a:rPr lang="en-IN" sz="1600" b="1" dirty="0"/>
                  <a:t>Example</a:t>
                </a:r>
              </a:p>
              <a:p>
                <a:pPr marL="0" indent="0">
                  <a:buNone/>
                </a:pPr>
                <a:endParaRPr lang="en-IN" sz="1600" b="1" dirty="0"/>
              </a:p>
              <a:p>
                <a:pPr marL="0" indent="0">
                  <a:buNone/>
                </a:pPr>
                <a:endParaRPr lang="en-IN" sz="1600" b="1" dirty="0"/>
              </a:p>
              <a:p>
                <a:pPr marL="0" indent="0">
                  <a:buNone/>
                </a:pPr>
                <a:endParaRPr lang="en-IN" sz="1600" b="1" dirty="0"/>
              </a:p>
              <a:p>
                <a:pPr marL="0" indent="0">
                  <a:buNone/>
                </a:pPr>
                <a:r>
                  <a:rPr lang="en-IN" sz="1600" dirty="0"/>
                  <a:t>Height dominates distance.</a:t>
                </a:r>
              </a:p>
              <a:p>
                <a:pPr marL="0" indent="0">
                  <a:buNone/>
                </a:pPr>
                <a:r>
                  <a:rPr lang="en-IN" sz="1600" b="1" dirty="0"/>
                  <a:t>Solution</a:t>
                </a:r>
              </a:p>
              <a:p>
                <a:r>
                  <a:rPr lang="en-IN" sz="1600" b="1" dirty="0"/>
                  <a:t>Min-Max Scaling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600" b="1"/>
                          </m:ctrlPr>
                        </m:sSupPr>
                        <m:e>
                          <m:r>
                            <a:rPr lang="ar-AE" sz="1600" b="1" i="1"/>
                            <m:t>𝒙</m:t>
                          </m:r>
                        </m:e>
                        <m:sup>
                          <m:r>
                            <a:rPr lang="ar-AE" sz="1600" b="1"/>
                            <m:t>′</m:t>
                          </m:r>
                        </m:sup>
                      </m:sSup>
                      <m:r>
                        <a:rPr lang="ar-AE" sz="1600" b="1"/>
                        <m:t>=</m:t>
                      </m:r>
                      <m:f>
                        <m:fPr>
                          <m:ctrlPr>
                            <a:rPr lang="ar-AE" sz="1600" b="1" i="1"/>
                          </m:ctrlPr>
                        </m:fPr>
                        <m:num>
                          <m:r>
                            <a:rPr lang="ar-AE" sz="1600" b="1" i="1"/>
                            <m:t>𝒙</m:t>
                          </m:r>
                          <m:r>
                            <a:rPr lang="ar-AE" sz="1600" b="1"/>
                            <m:t>−</m:t>
                          </m:r>
                          <m:r>
                            <a:rPr lang="ar-AE" sz="1600" b="1" i="1"/>
                            <m:t>𝒎𝒊𝒏</m:t>
                          </m:r>
                        </m:num>
                        <m:den>
                          <m:r>
                            <a:rPr lang="ar-AE" sz="1600" b="1" i="1"/>
                            <m:t>𝒎𝒂𝒙</m:t>
                          </m:r>
                          <m:r>
                            <a:rPr lang="ar-AE" sz="1600" b="1"/>
                            <m:t>−</m:t>
                          </m:r>
                          <m:r>
                            <a:rPr lang="ar-AE" sz="1600" b="1" i="1"/>
                            <m:t>𝒎𝒊𝒏</m:t>
                          </m:r>
                        </m:den>
                      </m:f>
                    </m:oMath>
                  </m:oMathPara>
                </a14:m>
                <a:endParaRPr lang="ar-AE" sz="1600" b="1" dirty="0"/>
              </a:p>
              <a:p>
                <a:r>
                  <a:rPr lang="en-IN" sz="1600" b="1" dirty="0"/>
                  <a:t>Standardization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1600" b="1" i="1"/>
                        <m:t>𝒛</m:t>
                      </m:r>
                      <m:r>
                        <a:rPr lang="en-IN" sz="1600" b="1"/>
                        <m:t>=</m:t>
                      </m:r>
                      <m:f>
                        <m:fPr>
                          <m:ctrlPr>
                            <a:rPr lang="ar-AE" sz="1600" b="1" i="1"/>
                          </m:ctrlPr>
                        </m:fPr>
                        <m:num>
                          <m:r>
                            <a:rPr lang="ar-AE" sz="1600" b="1" i="1"/>
                            <m:t>𝒙</m:t>
                          </m:r>
                          <m:r>
                            <a:rPr lang="ar-AE" sz="1600" b="1"/>
                            <m:t>−</m:t>
                          </m:r>
                          <m:r>
                            <a:rPr lang="ar-AE" sz="1600" b="1" i="1"/>
                            <m:t>𝝁</m:t>
                          </m:r>
                        </m:num>
                        <m:den>
                          <m:r>
                            <a:rPr lang="ar-AE" sz="1600" b="1" i="1"/>
                            <m:t>𝝈</m:t>
                          </m:r>
                        </m:den>
                      </m:f>
                    </m:oMath>
                  </m:oMathPara>
                </a14:m>
                <a:endParaRPr lang="ar-AE" sz="1600" b="1" dirty="0"/>
              </a:p>
              <a:p>
                <a:r>
                  <a:rPr lang="en-IN" sz="1600" dirty="0"/>
                  <a:t>Makes features comparable.</a:t>
                </a:r>
              </a:p>
              <a:p>
                <a:pPr marL="0" indent="0">
                  <a:buNone/>
                </a:pPr>
                <a:br>
                  <a:rPr lang="en-IN" sz="1600" dirty="0"/>
                </a:br>
                <a:endParaRPr lang="en-IN" sz="1600" dirty="0"/>
              </a:p>
              <a:p>
                <a:pPr marL="0" indent="0">
                  <a:buNone/>
                </a:pPr>
                <a:endParaRPr lang="en-IN" sz="1600" b="1" dirty="0"/>
              </a:p>
              <a:p>
                <a:endParaRPr lang="en-IN" sz="1600" b="1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242C321-F984-C12F-BAF2-C3495BBA3A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5440" y="680878"/>
                <a:ext cx="9695688" cy="5496243"/>
              </a:xfrm>
              <a:blipFill>
                <a:blip r:embed="rId3"/>
                <a:stretch>
                  <a:fillRect l="-314" t="-7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85A9B6-0460-CB1B-A754-5CDD2E497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9267"/>
              </p:ext>
            </p:extLst>
          </p:nvPr>
        </p:nvGraphicFramePr>
        <p:xfrm>
          <a:off x="2932748" y="2236311"/>
          <a:ext cx="4392612" cy="100980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6306">
                  <a:extLst>
                    <a:ext uri="{9D8B030D-6E8A-4147-A177-3AD203B41FA5}">
                      <a16:colId xmlns:a16="http://schemas.microsoft.com/office/drawing/2014/main" val="3673898163"/>
                    </a:ext>
                  </a:extLst>
                </a:gridCol>
                <a:gridCol w="2196306">
                  <a:extLst>
                    <a:ext uri="{9D8B030D-6E8A-4147-A177-3AD203B41FA5}">
                      <a16:colId xmlns:a16="http://schemas.microsoft.com/office/drawing/2014/main" val="3323492159"/>
                    </a:ext>
                  </a:extLst>
                </a:gridCol>
              </a:tblGrid>
              <a:tr h="3366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995899"/>
                  </a:ext>
                </a:extLst>
              </a:tr>
              <a:tr h="3366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170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545033"/>
                  </a:ext>
                </a:extLst>
              </a:tr>
              <a:tr h="3366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334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943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513C8-3AA0-9D61-72E0-493686E2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3D7A9-E7A8-FCB6-0F27-3F1424A8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13961-C948-18D2-1B6B-B41EE525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9DCE5-999C-15D8-C21B-0F2CBF1C0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440" y="680878"/>
            <a:ext cx="9695688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PROBLEM STATEMENT</a:t>
            </a:r>
          </a:p>
          <a:p>
            <a:pPr marL="0" indent="0">
              <a:buNone/>
            </a:pPr>
            <a:r>
              <a:rPr lang="en-US" sz="1600" dirty="0"/>
              <a:t>Points:</a:t>
            </a:r>
          </a:p>
          <a:p>
            <a:r>
              <a:rPr lang="en-US" sz="1600" dirty="0"/>
              <a:t>(2,3) A</a:t>
            </a:r>
            <a:br>
              <a:rPr lang="en-US" sz="1600" dirty="0"/>
            </a:br>
            <a:r>
              <a:rPr lang="en-US" sz="1600" dirty="0"/>
              <a:t>(3,4) A</a:t>
            </a:r>
            <a:br>
              <a:rPr lang="en-US" sz="1600" dirty="0"/>
            </a:br>
            <a:r>
              <a:rPr lang="en-US" sz="1600" dirty="0"/>
              <a:t>(7,8) B</a:t>
            </a:r>
            <a:br>
              <a:rPr lang="en-US" sz="1600" dirty="0"/>
            </a:br>
            <a:r>
              <a:rPr lang="en-US" sz="1600" dirty="0"/>
              <a:t>(8,9) B</a:t>
            </a:r>
          </a:p>
          <a:p>
            <a:r>
              <a:rPr lang="en-US" sz="1600" dirty="0"/>
              <a:t>Test = (4,5), k=3</a:t>
            </a:r>
          </a:p>
          <a:p>
            <a:pPr marL="0" indent="0">
              <a:buNone/>
            </a:pP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endParaRPr lang="en-IN" sz="1600" b="1" dirty="0"/>
          </a:p>
          <a:p>
            <a:endParaRPr lang="en-IN" sz="1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88A03B-6E72-120A-F798-53C8314CA9F1}"/>
                  </a:ext>
                </a:extLst>
              </p:cNvPr>
              <p:cNvSpPr txBox="1"/>
              <p:nvPr/>
            </p:nvSpPr>
            <p:spPr>
              <a:xfrm>
                <a:off x="5543804" y="855821"/>
                <a:ext cx="6096000" cy="2739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600" b="1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Step 1 – Distances</a:t>
                </a: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To (2,3)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6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ar-AE" sz="16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6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60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6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82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To (3,4)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To (7,8)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  <a:p>
                <a:pPr>
                  <a:buNone/>
                </a:pPr>
                <a:r>
                  <a:rPr lang="en-IN" sz="1600" dirty="0">
                    <a:solidFill>
                      <a:srgbClr val="002060"/>
                    </a:solidFill>
                    <a:latin typeface="Montserrat" panose="00000500000000000000" pitchFamily="2" charset="0"/>
                  </a:rPr>
                  <a:t>To (8,9)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6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ar-AE" sz="16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65</m:t>
                      </m:r>
                    </m:oMath>
                  </m:oMathPara>
                </a14:m>
                <a:endParaRPr lang="ar-AE" sz="1600" dirty="0">
                  <a:solidFill>
                    <a:srgbClr val="002060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88A03B-6E72-120A-F798-53C8314CA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804" y="855821"/>
                <a:ext cx="6096000" cy="2739596"/>
              </a:xfrm>
              <a:prstGeom prst="rect">
                <a:avLst/>
              </a:prstGeom>
              <a:blipFill>
                <a:blip r:embed="rId3"/>
                <a:stretch>
                  <a:fillRect l="-500" t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962123-C9A1-B363-3B20-C9A0ACCDA766}"/>
              </a:ext>
            </a:extLst>
          </p:cNvPr>
          <p:cNvSpPr txBox="1"/>
          <p:nvPr/>
        </p:nvSpPr>
        <p:spPr>
          <a:xfrm>
            <a:off x="2660142" y="359541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Step 2 – Sort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1.41 → A</a:t>
            </a:r>
            <a:b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2.82 → A</a:t>
            </a:r>
            <a:b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4.24 → B</a:t>
            </a:r>
          </a:p>
          <a:p>
            <a:pPr>
              <a:buNone/>
            </a:pPr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Step 3 – Majority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A = 2</a:t>
            </a:r>
            <a:b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B = 1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Prediction → </a:t>
            </a: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A</a:t>
            </a:r>
            <a:endParaRPr lang="en-US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942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AC526-DC81-E658-B3C4-07BC1F4A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6758-C100-2175-96EE-972A7C39D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67A61C-5835-7726-C9ED-CA5A212D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AD8367-003C-F166-A3EA-68293F20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440" y="680878"/>
            <a:ext cx="4958080" cy="549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ADVANCED KNN IDEAS</a:t>
            </a:r>
          </a:p>
          <a:p>
            <a:pPr marL="0" indent="0">
              <a:buNone/>
            </a:pPr>
            <a:r>
              <a:rPr lang="en-US" sz="1600" b="1" dirty="0"/>
              <a:t>Weighted KNN</a:t>
            </a:r>
          </a:p>
          <a:p>
            <a:r>
              <a:rPr lang="en-US" sz="1600" dirty="0"/>
              <a:t>Closer neighbors get more importance.</a:t>
            </a:r>
          </a:p>
          <a:p>
            <a:r>
              <a:rPr lang="en-US" sz="1600" dirty="0"/>
              <a:t>Weight = 1 / distance.</a:t>
            </a:r>
          </a:p>
          <a:p>
            <a:r>
              <a:rPr lang="en-US" sz="1600" dirty="0"/>
              <a:t>Example:</a:t>
            </a:r>
          </a:p>
          <a:p>
            <a:r>
              <a:rPr lang="en-US" sz="1600" dirty="0"/>
              <a:t>Distance 1 → Weight 1</a:t>
            </a:r>
            <a:br>
              <a:rPr lang="en-US" sz="1600" dirty="0"/>
            </a:br>
            <a:r>
              <a:rPr lang="en-US" sz="1600" dirty="0"/>
              <a:t>Distance 5 → Weight 0.2</a:t>
            </a:r>
          </a:p>
          <a:p>
            <a:r>
              <a:rPr lang="en-US" sz="1600" dirty="0"/>
              <a:t>More accurate prediction.</a:t>
            </a:r>
          </a:p>
          <a:p>
            <a:pPr marL="0" indent="0">
              <a:buNone/>
            </a:pPr>
            <a:r>
              <a:rPr lang="en-US" sz="1600" b="1" dirty="0"/>
              <a:t>KD-Tree &amp; Ball Tree</a:t>
            </a:r>
          </a:p>
          <a:p>
            <a:r>
              <a:rPr lang="en-US" sz="1600" dirty="0"/>
              <a:t>Used to speed up KNN search.</a:t>
            </a:r>
          </a:p>
          <a:p>
            <a:r>
              <a:rPr lang="en-US" sz="1600" dirty="0"/>
              <a:t>Important for big data.</a:t>
            </a:r>
          </a:p>
          <a:p>
            <a:pPr marL="0" indent="0">
              <a:buNone/>
            </a:pPr>
            <a:endParaRPr lang="en-IN" sz="1600" b="1" dirty="0"/>
          </a:p>
          <a:p>
            <a:endParaRPr lang="en-IN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54EDC-6BCF-5BE8-450D-596A44A375C7}"/>
              </a:ext>
            </a:extLst>
          </p:cNvPr>
          <p:cNvSpPr txBox="1"/>
          <p:nvPr/>
        </p:nvSpPr>
        <p:spPr>
          <a:xfrm>
            <a:off x="6463284" y="1571119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Montserrat" panose="00000500000000000000" pitchFamily="2" charset="0"/>
              </a:rPr>
              <a:t>Curse of Dimensionality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Too many features → distances become meaningless.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Example: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100 features → all points equally far.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Solution: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PCA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Feature selection</a:t>
            </a:r>
          </a:p>
          <a:p>
            <a:r>
              <a:rPr lang="en-US" sz="1600" dirty="0">
                <a:solidFill>
                  <a:srgbClr val="002060"/>
                </a:solidFill>
                <a:latin typeface="Montserrat" panose="00000500000000000000" pitchFamily="2" charset="0"/>
              </a:rPr>
              <a:t>Remove irrelevant features</a:t>
            </a:r>
          </a:p>
          <a:p>
            <a:pPr marL="0" indent="0">
              <a:buNone/>
            </a:pPr>
            <a:br>
              <a:rPr lang="en-IN" sz="1600" dirty="0">
                <a:solidFill>
                  <a:srgbClr val="002060"/>
                </a:solidFill>
                <a:latin typeface="Montserrat" panose="00000500000000000000" pitchFamily="2" charset="0"/>
              </a:rPr>
            </a:br>
            <a:endParaRPr lang="en-IN" sz="1600" dirty="0">
              <a:solidFill>
                <a:srgbClr val="00206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68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FB3E-F46E-005C-9644-85711E6C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ED10E-0079-BA23-64D3-5A9F46560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12" y="326866"/>
            <a:ext cx="10488168" cy="5289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K-NEAREST NEIGHBORS (KNN)</a:t>
            </a:r>
            <a:br>
              <a:rPr lang="en-US" sz="3200" b="1" dirty="0"/>
            </a:br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EBFFE7-53B2-DFC0-ECA4-F078C906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24ADI003_ML_PREETHIG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0C790-9F53-7223-4B46-D036E3CD2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440" y="680878"/>
            <a:ext cx="8727440" cy="549624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002060"/>
                </a:solidFill>
              </a:rPr>
              <a:t>KNN VS DECISION TREE</a:t>
            </a:r>
          </a:p>
          <a:p>
            <a:pPr algn="ctr"/>
            <a:endParaRPr lang="en-IN" sz="1600" b="1" dirty="0">
              <a:solidFill>
                <a:srgbClr val="00206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BAFDC3-E573-9832-A91F-5C5579A1C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57935"/>
              </p:ext>
            </p:extLst>
          </p:nvPr>
        </p:nvGraphicFramePr>
        <p:xfrm>
          <a:off x="1812671" y="1410494"/>
          <a:ext cx="9823449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4483">
                  <a:extLst>
                    <a:ext uri="{9D8B030D-6E8A-4147-A177-3AD203B41FA5}">
                      <a16:colId xmlns:a16="http://schemas.microsoft.com/office/drawing/2014/main" val="1480732926"/>
                    </a:ext>
                  </a:extLst>
                </a:gridCol>
                <a:gridCol w="3274483">
                  <a:extLst>
                    <a:ext uri="{9D8B030D-6E8A-4147-A177-3AD203B41FA5}">
                      <a16:colId xmlns:a16="http://schemas.microsoft.com/office/drawing/2014/main" val="716094722"/>
                    </a:ext>
                  </a:extLst>
                </a:gridCol>
                <a:gridCol w="3274483">
                  <a:extLst>
                    <a:ext uri="{9D8B030D-6E8A-4147-A177-3AD203B41FA5}">
                      <a16:colId xmlns:a16="http://schemas.microsoft.com/office/drawing/2014/main" val="34794115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KNN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913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924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004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214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494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Scaling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rgbClr val="002060"/>
                          </a:solidFill>
                          <a:latin typeface="Montserrat" panose="00000500000000000000" pitchFamily="2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563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3835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9815D0B54E64CA32C725DD98280A8" ma:contentTypeVersion="0" ma:contentTypeDescription="Create a new document." ma:contentTypeScope="" ma:versionID="dab757612c49e9df1b3a4ceae39784f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C96E2B-C04D-48CF-878A-BB93CAEF1C5A}"/>
</file>

<file path=customXml/itemProps2.xml><?xml version="1.0" encoding="utf-8"?>
<ds:datastoreItem xmlns:ds="http://schemas.openxmlformats.org/officeDocument/2006/customXml" ds:itemID="{AF346E7D-A7F4-4294-9F27-352BED1870B3}"/>
</file>

<file path=customXml/itemProps3.xml><?xml version="1.0" encoding="utf-8"?>
<ds:datastoreItem xmlns:ds="http://schemas.openxmlformats.org/officeDocument/2006/customXml" ds:itemID="{8A4A12E9-3FA6-446E-AB54-4EDA4C6D77CC}"/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2546</Words>
  <Application>Microsoft Office PowerPoint</Application>
  <PresentationFormat>Widescreen</PresentationFormat>
  <Paragraphs>772</Paragraphs>
  <Slides>33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Arial</vt:lpstr>
      <vt:lpstr>Cambria Math</vt:lpstr>
      <vt:lpstr>Montserrat</vt:lpstr>
      <vt:lpstr>Segoe UI</vt:lpstr>
      <vt:lpstr>1_Office Theme</vt:lpstr>
      <vt:lpstr>24ADI003-MACHINE LEARNING</vt:lpstr>
      <vt:lpstr>Unit III – CLASSIFICATION MODELS   </vt:lpstr>
      <vt:lpstr>NAIVE BAYES CLASSIFIER 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DECISION TREE CLASSIFIERS </vt:lpstr>
      <vt:lpstr>K-NEAREST NEIGHBORS (KNN) </vt:lpstr>
      <vt:lpstr>K-NEAREST NEIGHBORS (KNN) </vt:lpstr>
      <vt:lpstr>K-NEAREST NEIGHBORS (KNN) </vt:lpstr>
      <vt:lpstr>K-NEAREST NEIGHBORS (KNN) </vt:lpstr>
      <vt:lpstr>K-NEAREST NEIGHBORS (KNN) </vt:lpstr>
      <vt:lpstr>K-NEAREST NEIGHBORS (KNN) </vt:lpstr>
      <vt:lpstr>K-NEAREST NEIGHBORS (KNN) </vt:lpstr>
      <vt:lpstr>K-NEAREST NEIGHBORS (KNN) </vt:lpstr>
      <vt:lpstr>K-NEAREST NEIGHBORS (KNN) </vt:lpstr>
      <vt:lpstr>K-NEAREST NEIGHBORS (KNN) </vt:lpstr>
      <vt:lpstr>K-NEAREST NEIGHBORS (KNN) </vt:lpstr>
      <vt:lpstr>K-NEAREST NEIGHBORS (KNN)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Preethi G</dc:creator>
  <cp:lastModifiedBy>Preethi G</cp:lastModifiedBy>
  <cp:revision>25</cp:revision>
  <dcterms:created xsi:type="dcterms:W3CDTF">2026-02-16T08:57:39Z</dcterms:created>
  <dcterms:modified xsi:type="dcterms:W3CDTF">2026-02-16T10:04:47Z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0x010100A959815D0B54E64CA32C725DD98280A8</vt:lpwstr>
  </property>
</Properties>
</file>